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81" r:id="rId5"/>
    <p:sldId id="282" r:id="rId6"/>
    <p:sldId id="283" r:id="rId7"/>
    <p:sldId id="284" r:id="rId8"/>
    <p:sldId id="285" r:id="rId9"/>
    <p:sldId id="286" r:id="rId10"/>
    <p:sldId id="287" r:id="rId11"/>
    <p:sldId id="288" r:id="rId12"/>
    <p:sldId id="289" r:id="rId13"/>
    <p:sldId id="290"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92" r:id="rId27"/>
    <p:sldId id="293" r:id="rId28"/>
    <p:sldId id="294" r:id="rId29"/>
    <p:sldId id="271" r:id="rId30"/>
    <p:sldId id="272" r:id="rId31"/>
    <p:sldId id="273" r:id="rId32"/>
    <p:sldId id="274" r:id="rId33"/>
    <p:sldId id="275" r:id="rId34"/>
    <p:sldId id="276" r:id="rId35"/>
    <p:sldId id="277" r:id="rId36"/>
    <p:sldId id="278" r:id="rId37"/>
    <p:sldId id="279" r:id="rId38"/>
    <p:sldId id="280"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9" d="100"/>
          <a:sy n="79" d="100"/>
        </p:scale>
        <p:origin x="114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File</a:t>
            </a:r>
            <a:r>
              <a:rPr lang="en-US" dirty="0"/>
              <a:t> Handling</a:t>
            </a:r>
            <a:r>
              <a:rPr dirty="0"/>
              <a:t> in Python:</a:t>
            </a:r>
          </a:p>
        </p:txBody>
      </p:sp>
      <p:sp>
        <p:nvSpPr>
          <p:cNvPr id="3" name="Subtitle 2"/>
          <p:cNvSpPr>
            <a:spLocks noGrp="1"/>
          </p:cNvSpPr>
          <p:nvPr>
            <p:ph type="subTitle" idx="1"/>
          </p:nvPr>
        </p:nvSpPr>
        <p:spPr/>
        <p:txBody>
          <a:bodyPr/>
          <a:lstStyle/>
          <a:p>
            <a:endParaRPr dirty="0"/>
          </a:p>
        </p:txBody>
      </p:sp>
      <p:pic>
        <p:nvPicPr>
          <p:cNvPr id="5" name="Picture 4" descr="A logo of a university&#10;&#10;AI-generated content may be incorrect.">
            <a:extLst>
              <a:ext uri="{FF2B5EF4-FFF2-40B4-BE49-F238E27FC236}">
                <a16:creationId xmlns:a16="http://schemas.microsoft.com/office/drawing/2014/main" id="{4F4F3550-35EB-CC03-213A-B3B9B9BA9B8C}"/>
              </a:ext>
            </a:extLst>
          </p:cNvPr>
          <p:cNvPicPr>
            <a:picLocks noChangeAspect="1"/>
          </p:cNvPicPr>
          <p:nvPr/>
        </p:nvPicPr>
        <p:blipFill>
          <a:blip r:embed="rId2"/>
          <a:stretch>
            <a:fillRect/>
          </a:stretch>
        </p:blipFill>
        <p:spPr>
          <a:xfrm>
            <a:off x="685800" y="480968"/>
            <a:ext cx="866896" cy="77163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Files</a:t>
            </a:r>
          </a:p>
        </p:txBody>
      </p:sp>
      <p:sp>
        <p:nvSpPr>
          <p:cNvPr id="3" name="Content Placeholder 2"/>
          <p:cNvSpPr>
            <a:spLocks noGrp="1"/>
          </p:cNvSpPr>
          <p:nvPr>
            <p:ph idx="1"/>
          </p:nvPr>
        </p:nvSpPr>
        <p:spPr/>
        <p:txBody>
          <a:bodyPr/>
          <a:lstStyle/>
          <a:p>
            <a:r>
              <a:rPr dirty="0"/>
              <a:t>Files store data permanently on disk.</a:t>
            </a:r>
          </a:p>
          <a:p>
            <a:r>
              <a:rPr dirty="0"/>
              <a:t>Python provides built-in functions to handle files.</a:t>
            </a:r>
            <a:endParaRPr lang="en-US" dirty="0"/>
          </a:p>
          <a:p>
            <a:r>
              <a:rPr lang="en-US" dirty="0"/>
              <a:t>The </a:t>
            </a:r>
            <a:r>
              <a:rPr lang="en-US" b="1" dirty="0" err="1"/>
              <a:t>os</a:t>
            </a:r>
            <a:r>
              <a:rPr lang="en-US" b="1" dirty="0"/>
              <a:t> module</a:t>
            </a:r>
            <a:r>
              <a:rPr lang="en-US" dirty="0"/>
              <a:t> contains plenty of functions for performing operating system-</a:t>
            </a:r>
            <a:r>
              <a:rPr lang="en-US" dirty="0" err="1"/>
              <a:t>ish</a:t>
            </a:r>
            <a:r>
              <a:rPr lang="en-US" dirty="0"/>
              <a:t> stuff like changing directories and removing files, while </a:t>
            </a:r>
            <a:r>
              <a:rPr lang="en-US" dirty="0" err="1"/>
              <a:t>os.path</a:t>
            </a:r>
            <a:r>
              <a:rPr lang="en-US" dirty="0"/>
              <a:t> helps extract directory names, file names, and extensions from a given path.</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Types of Files</a:t>
            </a:r>
          </a:p>
        </p:txBody>
      </p:sp>
      <p:sp>
        <p:nvSpPr>
          <p:cNvPr id="3" name="Content Placeholder 2"/>
          <p:cNvSpPr>
            <a:spLocks noGrp="1"/>
          </p:cNvSpPr>
          <p:nvPr>
            <p:ph idx="1"/>
          </p:nvPr>
        </p:nvSpPr>
        <p:spPr/>
        <p:txBody>
          <a:bodyPr/>
          <a:lstStyle/>
          <a:p>
            <a:r>
              <a:t>1. Text Files (.txt, .csv, .log, etc.)</a:t>
            </a:r>
          </a:p>
          <a:p>
            <a:r>
              <a:t>2. Binary Files (.jpg, .png, .exe, etc.)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817EA-7921-49CB-E93F-E57B54C8BE98}"/>
              </a:ext>
            </a:extLst>
          </p:cNvPr>
          <p:cNvSpPr>
            <a:spLocks noGrp="1"/>
          </p:cNvSpPr>
          <p:nvPr>
            <p:ph type="title"/>
          </p:nvPr>
        </p:nvSpPr>
        <p:spPr>
          <a:xfrm>
            <a:off x="457200" y="274638"/>
            <a:ext cx="8229600" cy="737298"/>
          </a:xfrm>
        </p:spPr>
        <p:txBody>
          <a:bodyPr>
            <a:normAutofit fontScale="90000"/>
          </a:bodyPr>
          <a:lstStyle/>
          <a:p>
            <a:r>
              <a:rPr lang="en-US" dirty="0"/>
              <a:t>The OS module</a:t>
            </a:r>
            <a:endParaRPr lang="en-IN" dirty="0"/>
          </a:p>
        </p:txBody>
      </p:sp>
      <p:sp>
        <p:nvSpPr>
          <p:cNvPr id="3" name="Content Placeholder 2">
            <a:extLst>
              <a:ext uri="{FF2B5EF4-FFF2-40B4-BE49-F238E27FC236}">
                <a16:creationId xmlns:a16="http://schemas.microsoft.com/office/drawing/2014/main" id="{5D8784E8-F3BC-79E7-5587-C6E35336D531}"/>
              </a:ext>
            </a:extLst>
          </p:cNvPr>
          <p:cNvSpPr>
            <a:spLocks noGrp="1"/>
          </p:cNvSpPr>
          <p:nvPr>
            <p:ph idx="1"/>
          </p:nvPr>
        </p:nvSpPr>
        <p:spPr>
          <a:xfrm>
            <a:off x="457200" y="1011936"/>
            <a:ext cx="8229600" cy="5114227"/>
          </a:xfrm>
        </p:spPr>
        <p:txBody>
          <a:bodyPr>
            <a:normAutofit fontScale="85000" lnSpcReduction="10000"/>
          </a:bodyPr>
          <a:lstStyle/>
          <a:p>
            <a:r>
              <a:rPr lang="en-US" dirty="0"/>
              <a:t>The </a:t>
            </a:r>
            <a:r>
              <a:rPr lang="en-US" dirty="0" err="1"/>
              <a:t>os</a:t>
            </a:r>
            <a:r>
              <a:rPr lang="en-US" dirty="0"/>
              <a:t> module contains plenty of functions for performing operating system-</a:t>
            </a:r>
            <a:r>
              <a:rPr lang="en-US" dirty="0" err="1"/>
              <a:t>ish</a:t>
            </a:r>
            <a:r>
              <a:rPr lang="en-US" dirty="0"/>
              <a:t> stuff like changing directories and removing files, while </a:t>
            </a:r>
            <a:r>
              <a:rPr lang="en-US" dirty="0" err="1"/>
              <a:t>os.path</a:t>
            </a:r>
            <a:r>
              <a:rPr lang="en-US" dirty="0"/>
              <a:t> helps extract directory names, file names, and extensions from a given path.</a:t>
            </a:r>
          </a:p>
          <a:p>
            <a:r>
              <a:rPr lang="en-IN" dirty="0"/>
              <a:t>&gt;&gt;&gt; print </a:t>
            </a:r>
            <a:r>
              <a:rPr lang="en-IN" dirty="0" err="1"/>
              <a:t>os.path.join</a:t>
            </a:r>
            <a:r>
              <a:rPr lang="en-IN" dirty="0"/>
              <a:t>(‘maps’,’dungeon12.map’) maps\dungeon12.map # Result when run on Windows</a:t>
            </a:r>
          </a:p>
          <a:p>
            <a:r>
              <a:rPr lang="en-US" dirty="0"/>
              <a:t>The access(path, mode) function tests to see that the current process has permission to read, write, or execute a given path. The mode parameter can be any combination of </a:t>
            </a:r>
            <a:r>
              <a:rPr lang="en-US" dirty="0" err="1"/>
              <a:t>os.R_OK</a:t>
            </a:r>
            <a:r>
              <a:rPr lang="en-US" dirty="0"/>
              <a:t> (read permission), </a:t>
            </a:r>
            <a:r>
              <a:rPr lang="en-US" dirty="0" err="1"/>
              <a:t>os.W_OK</a:t>
            </a:r>
            <a:r>
              <a:rPr lang="en-US" dirty="0"/>
              <a:t> (write permission), or </a:t>
            </a:r>
            <a:r>
              <a:rPr lang="en-US" dirty="0" err="1"/>
              <a:t>os.X_OK</a:t>
            </a:r>
            <a:r>
              <a:rPr lang="en-US" dirty="0"/>
              <a:t> (execute permission):</a:t>
            </a:r>
            <a:endParaRPr lang="en-IN" dirty="0"/>
          </a:p>
        </p:txBody>
      </p:sp>
    </p:spTree>
    <p:extLst>
      <p:ext uri="{BB962C8B-B14F-4D97-AF65-F5344CB8AC3E}">
        <p14:creationId xmlns:p14="http://schemas.microsoft.com/office/powerpoint/2010/main" val="3660485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BC7E7-9542-32A1-7A67-5D22A200991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29983C0-5EB7-33AE-ABE5-9A62714660E5}"/>
              </a:ext>
            </a:extLst>
          </p:cNvPr>
          <p:cNvSpPr>
            <a:spLocks noGrp="1"/>
          </p:cNvSpPr>
          <p:nvPr>
            <p:ph idx="1"/>
          </p:nvPr>
        </p:nvSpPr>
        <p:spPr/>
        <p:txBody>
          <a:bodyPr>
            <a:normAutofit fontScale="92500" lnSpcReduction="20000"/>
          </a:bodyPr>
          <a:lstStyle/>
          <a:p>
            <a:r>
              <a:rPr lang="en-IN" dirty="0"/>
              <a:t>&gt;&gt;&gt; </a:t>
            </a:r>
            <a:r>
              <a:rPr lang="en-IN" dirty="0" err="1"/>
              <a:t>os.access</a:t>
            </a:r>
            <a:r>
              <a:rPr lang="en-IN" dirty="0"/>
              <a:t>(‘/</a:t>
            </a:r>
            <a:r>
              <a:rPr lang="en-IN" dirty="0" err="1"/>
              <a:t>usr</a:t>
            </a:r>
            <a:r>
              <a:rPr lang="en-IN" dirty="0"/>
              <a:t>/local’,</a:t>
            </a:r>
            <a:r>
              <a:rPr lang="en-IN" dirty="0" err="1"/>
              <a:t>os.R_OK</a:t>
            </a:r>
            <a:r>
              <a:rPr lang="en-IN" dirty="0"/>
              <a:t> | </a:t>
            </a:r>
            <a:r>
              <a:rPr lang="en-IN" dirty="0" err="1"/>
              <a:t>os.X_OK</a:t>
            </a:r>
            <a:r>
              <a:rPr lang="en-IN" dirty="0"/>
              <a:t>) 1 # I have read AND execute permissions... &gt;&gt;&gt; </a:t>
            </a:r>
            <a:r>
              <a:rPr lang="en-IN" dirty="0" err="1"/>
              <a:t>os.access</a:t>
            </a:r>
            <a:r>
              <a:rPr lang="en-IN" dirty="0"/>
              <a:t>(‘/</a:t>
            </a:r>
            <a:r>
              <a:rPr lang="en-IN" dirty="0" err="1"/>
              <a:t>usr</a:t>
            </a:r>
            <a:r>
              <a:rPr lang="en-IN" dirty="0"/>
              <a:t>/local’,</a:t>
            </a:r>
            <a:r>
              <a:rPr lang="en-IN" dirty="0" err="1"/>
              <a:t>os.W_OK</a:t>
            </a:r>
            <a:r>
              <a:rPr lang="en-IN" dirty="0"/>
              <a:t>) 0 # ...but not write permissions.</a:t>
            </a:r>
          </a:p>
          <a:p>
            <a:r>
              <a:rPr lang="en-US" dirty="0"/>
              <a:t>&gt;&gt;&gt; </a:t>
            </a:r>
            <a:r>
              <a:rPr lang="en-US" dirty="0" err="1"/>
              <a:t>os.path.exists</a:t>
            </a:r>
            <a:r>
              <a:rPr lang="en-US" dirty="0"/>
              <a:t>(‘c:\\</a:t>
            </a:r>
            <a:r>
              <a:rPr lang="en-US" dirty="0" err="1"/>
              <a:t>winnt</a:t>
            </a:r>
            <a:r>
              <a:rPr lang="en-US" dirty="0"/>
              <a:t>’) # ‘\\’ to “escape” the slash 1</a:t>
            </a:r>
            <a:endParaRPr lang="en-IN" dirty="0"/>
          </a:p>
          <a:p>
            <a:r>
              <a:rPr lang="en-US" dirty="0"/>
              <a:t>The inverse of access is </a:t>
            </a:r>
            <a:r>
              <a:rPr lang="en-US" dirty="0" err="1"/>
              <a:t>os.chmod</a:t>
            </a:r>
            <a:r>
              <a:rPr lang="en-US" dirty="0"/>
              <a:t>(path, mode) which lets you set the mode for the given path. The mode parameter is a number created by adding different octal values</a:t>
            </a:r>
          </a:p>
          <a:p>
            <a:r>
              <a:rPr lang="en-IN" dirty="0" err="1"/>
              <a:t>os.chmod</a:t>
            </a:r>
            <a:r>
              <a:rPr lang="en-IN" dirty="0"/>
              <a:t>(‘secretPlans.txt’,0640)</a:t>
            </a:r>
          </a:p>
        </p:txBody>
      </p:sp>
    </p:spTree>
    <p:extLst>
      <p:ext uri="{BB962C8B-B14F-4D97-AF65-F5344CB8AC3E}">
        <p14:creationId xmlns:p14="http://schemas.microsoft.com/office/powerpoint/2010/main" val="1132329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6B7D65-4CE4-E004-A93C-A2C1AC925352}"/>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defTabSz="914400">
              <a:lnSpc>
                <a:spcPct val="90000"/>
              </a:lnSpc>
            </a:pPr>
            <a:r>
              <a:rPr lang="en-US" sz="2800" kern="1200" dirty="0" err="1">
                <a:solidFill>
                  <a:schemeClr val="bg1"/>
                </a:solidFill>
                <a:latin typeface="+mj-lt"/>
                <a:ea typeface="+mj-ea"/>
                <a:cs typeface="+mj-cs"/>
              </a:rPr>
              <a:t>Os.chmod</a:t>
            </a:r>
            <a:r>
              <a:rPr lang="en-US" sz="2800" kern="1200" dirty="0">
                <a:solidFill>
                  <a:schemeClr val="bg1"/>
                </a:solidFill>
                <a:latin typeface="+mj-lt"/>
                <a:ea typeface="+mj-ea"/>
                <a:cs typeface="+mj-cs"/>
              </a:rPr>
              <a:t> values</a:t>
            </a:r>
          </a:p>
        </p:txBody>
      </p:sp>
      <p:pic>
        <p:nvPicPr>
          <p:cNvPr id="5" name="Content Placeholder 4">
            <a:extLst>
              <a:ext uri="{FF2B5EF4-FFF2-40B4-BE49-F238E27FC236}">
                <a16:creationId xmlns:a16="http://schemas.microsoft.com/office/drawing/2014/main" id="{50163D0C-CA6D-1D12-9AA1-9CCA185136CC}"/>
              </a:ext>
            </a:extLst>
          </p:cNvPr>
          <p:cNvPicPr>
            <a:picLocks noGrp="1" noChangeAspect="1"/>
          </p:cNvPicPr>
          <p:nvPr>
            <p:ph idx="1"/>
          </p:nvPr>
        </p:nvPicPr>
        <p:blipFill>
          <a:blip r:embed="rId2"/>
          <a:stretch>
            <a:fillRect/>
          </a:stretch>
        </p:blipFill>
        <p:spPr>
          <a:xfrm>
            <a:off x="595349" y="1675227"/>
            <a:ext cx="7953301" cy="4394199"/>
          </a:xfrm>
          <a:prstGeom prst="rect">
            <a:avLst/>
          </a:prstGeom>
        </p:spPr>
      </p:pic>
    </p:spTree>
    <p:extLst>
      <p:ext uri="{BB962C8B-B14F-4D97-AF65-F5344CB8AC3E}">
        <p14:creationId xmlns:p14="http://schemas.microsoft.com/office/powerpoint/2010/main" val="1177881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9BB05-23DD-BBF3-D826-A1EC9B444DE1}"/>
              </a:ext>
            </a:extLst>
          </p:cNvPr>
          <p:cNvSpPr>
            <a:spLocks noGrp="1"/>
          </p:cNvSpPr>
          <p:nvPr>
            <p:ph type="title"/>
          </p:nvPr>
        </p:nvSpPr>
        <p:spPr/>
        <p:txBody>
          <a:bodyPr/>
          <a:lstStyle/>
          <a:p>
            <a:r>
              <a:rPr lang="en-US" dirty="0"/>
              <a:t>Absolute &amp; Relative Path</a:t>
            </a:r>
            <a:endParaRPr lang="en-IN" dirty="0"/>
          </a:p>
        </p:txBody>
      </p:sp>
      <p:sp>
        <p:nvSpPr>
          <p:cNvPr id="3" name="Content Placeholder 2">
            <a:extLst>
              <a:ext uri="{FF2B5EF4-FFF2-40B4-BE49-F238E27FC236}">
                <a16:creationId xmlns:a16="http://schemas.microsoft.com/office/drawing/2014/main" id="{38C93999-CD2B-6D21-9B59-2058A089259E}"/>
              </a:ext>
            </a:extLst>
          </p:cNvPr>
          <p:cNvSpPr>
            <a:spLocks noGrp="1"/>
          </p:cNvSpPr>
          <p:nvPr>
            <p:ph idx="1"/>
          </p:nvPr>
        </p:nvSpPr>
        <p:spPr/>
        <p:txBody>
          <a:bodyPr>
            <a:normAutofit lnSpcReduction="10000"/>
          </a:bodyPr>
          <a:lstStyle/>
          <a:p>
            <a:r>
              <a:rPr lang="en-US" dirty="0"/>
              <a:t>The </a:t>
            </a:r>
            <a:r>
              <a:rPr lang="en-US" dirty="0" err="1"/>
              <a:t>os.path.isabs</a:t>
            </a:r>
            <a:r>
              <a:rPr lang="en-US" dirty="0"/>
              <a:t>(path) function returns 1 if the given path is an absolute path. On UNIX systems, a path is absolute if it starts with ‘/’; on Windows, paths are absolute if they either start with a backlash or if they start with a drive letter followed by a colon and a backslash:</a:t>
            </a:r>
          </a:p>
          <a:p>
            <a:r>
              <a:rPr lang="en-IN" dirty="0"/>
              <a:t>&gt;&gt;&gt; </a:t>
            </a:r>
            <a:r>
              <a:rPr lang="en-IN" dirty="0" err="1"/>
              <a:t>os.path.isabs</a:t>
            </a:r>
            <a:r>
              <a:rPr lang="en-IN" dirty="0"/>
              <a:t>(‘c:\\temp’) 1 </a:t>
            </a:r>
          </a:p>
          <a:p>
            <a:r>
              <a:rPr lang="en-IN" dirty="0"/>
              <a:t>&gt;&gt;&gt; </a:t>
            </a:r>
            <a:r>
              <a:rPr lang="en-IN" dirty="0" err="1"/>
              <a:t>os.path.isabs</a:t>
            </a:r>
            <a:r>
              <a:rPr lang="en-IN" dirty="0"/>
              <a:t>(‘temp\\foo’) 0</a:t>
            </a:r>
          </a:p>
        </p:txBody>
      </p:sp>
    </p:spTree>
    <p:extLst>
      <p:ext uri="{BB962C8B-B14F-4D97-AF65-F5344CB8AC3E}">
        <p14:creationId xmlns:p14="http://schemas.microsoft.com/office/powerpoint/2010/main" val="678428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317F1-E398-73DE-2EEA-B1863017E06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E30E411-25C5-5E67-08F4-47CAFBB834A3}"/>
              </a:ext>
            </a:extLst>
          </p:cNvPr>
          <p:cNvSpPr>
            <a:spLocks noGrp="1"/>
          </p:cNvSpPr>
          <p:nvPr>
            <p:ph idx="1"/>
          </p:nvPr>
        </p:nvSpPr>
        <p:spPr/>
        <p:txBody>
          <a:bodyPr>
            <a:normAutofit lnSpcReduction="10000"/>
          </a:bodyPr>
          <a:lstStyle/>
          <a:p>
            <a:r>
              <a:rPr lang="en-US" dirty="0"/>
              <a:t>The following four functions in </a:t>
            </a:r>
            <a:r>
              <a:rPr lang="en-US" dirty="0">
                <a:solidFill>
                  <a:srgbClr val="FF0000"/>
                </a:solidFill>
              </a:rPr>
              <a:t>the </a:t>
            </a:r>
            <a:r>
              <a:rPr lang="en-US" dirty="0" err="1">
                <a:solidFill>
                  <a:srgbClr val="FF0000"/>
                </a:solidFill>
              </a:rPr>
              <a:t>os.path</a:t>
            </a:r>
            <a:r>
              <a:rPr lang="en-US" dirty="0">
                <a:solidFill>
                  <a:srgbClr val="FF0000"/>
                </a:solidFill>
              </a:rPr>
              <a:t> module, </a:t>
            </a:r>
            <a:r>
              <a:rPr lang="en-US" dirty="0" err="1">
                <a:solidFill>
                  <a:srgbClr val="FF0000"/>
                </a:solidFill>
              </a:rPr>
              <a:t>isdir</a:t>
            </a:r>
            <a:r>
              <a:rPr lang="en-US" dirty="0">
                <a:solidFill>
                  <a:srgbClr val="FF0000"/>
                </a:solidFill>
              </a:rPr>
              <a:t>(path), </a:t>
            </a:r>
            <a:r>
              <a:rPr lang="en-US" dirty="0" err="1">
                <a:solidFill>
                  <a:srgbClr val="FF0000"/>
                </a:solidFill>
              </a:rPr>
              <a:t>isfile</a:t>
            </a:r>
            <a:r>
              <a:rPr lang="en-US" dirty="0">
                <a:solidFill>
                  <a:srgbClr val="FF0000"/>
                </a:solidFill>
              </a:rPr>
              <a:t>(path), </a:t>
            </a:r>
            <a:r>
              <a:rPr lang="en-US" dirty="0" err="1">
                <a:solidFill>
                  <a:srgbClr val="FF0000"/>
                </a:solidFill>
              </a:rPr>
              <a:t>islink</a:t>
            </a:r>
            <a:r>
              <a:rPr lang="en-US" dirty="0">
                <a:solidFill>
                  <a:srgbClr val="FF0000"/>
                </a:solidFill>
              </a:rPr>
              <a:t>(path), and </a:t>
            </a:r>
            <a:r>
              <a:rPr lang="en-US" dirty="0" err="1">
                <a:solidFill>
                  <a:srgbClr val="FF0000"/>
                </a:solidFill>
              </a:rPr>
              <a:t>ismount</a:t>
            </a:r>
            <a:r>
              <a:rPr lang="en-US" dirty="0">
                <a:solidFill>
                  <a:srgbClr val="FF0000"/>
                </a:solidFill>
              </a:rPr>
              <a:t>(path), </a:t>
            </a:r>
            <a:r>
              <a:rPr lang="en-US" dirty="0"/>
              <a:t>test what kind of file system entry the given path refers to:</a:t>
            </a:r>
          </a:p>
          <a:p>
            <a:r>
              <a:rPr lang="en-US" dirty="0" err="1"/>
              <a:t>os.path.isdir</a:t>
            </a:r>
            <a:r>
              <a:rPr lang="en-US" dirty="0"/>
              <a:t>(‘c:\\</a:t>
            </a:r>
            <a:r>
              <a:rPr lang="en-US" dirty="0" err="1"/>
              <a:t>winnt</a:t>
            </a:r>
            <a:r>
              <a:rPr lang="en-US" dirty="0"/>
              <a:t>’) # Is it a directory?</a:t>
            </a:r>
          </a:p>
          <a:p>
            <a:r>
              <a:rPr lang="en-US" dirty="0" err="1"/>
              <a:t>os.path.isfile</a:t>
            </a:r>
            <a:r>
              <a:rPr lang="en-US" dirty="0"/>
              <a:t>(‘c:\\</a:t>
            </a:r>
            <a:r>
              <a:rPr lang="en-US" dirty="0" err="1"/>
              <a:t>winnt</a:t>
            </a:r>
            <a:r>
              <a:rPr lang="en-US" dirty="0"/>
              <a:t>’) # Is it a normal file?</a:t>
            </a:r>
          </a:p>
          <a:p>
            <a:r>
              <a:rPr lang="en-US" dirty="0" err="1"/>
              <a:t>os.path.islink</a:t>
            </a:r>
            <a:r>
              <a:rPr lang="en-US" dirty="0"/>
              <a:t>(‘/</a:t>
            </a:r>
            <a:r>
              <a:rPr lang="en-US" dirty="0" err="1"/>
              <a:t>usr</a:t>
            </a:r>
            <a:r>
              <a:rPr lang="en-US" dirty="0"/>
              <a:t>/X11R6/bin/X’) # Is it a symbolic link?</a:t>
            </a:r>
          </a:p>
          <a:p>
            <a:r>
              <a:rPr lang="en-US" dirty="0" err="1"/>
              <a:t>os.path.ismount</a:t>
            </a:r>
            <a:r>
              <a:rPr lang="en-US" dirty="0"/>
              <a:t>(‘c:\\’) # It is a mount point?</a:t>
            </a:r>
            <a:endParaRPr lang="en-IN" dirty="0"/>
          </a:p>
        </p:txBody>
      </p:sp>
    </p:spTree>
    <p:extLst>
      <p:ext uri="{BB962C8B-B14F-4D97-AF65-F5344CB8AC3E}">
        <p14:creationId xmlns:p14="http://schemas.microsoft.com/office/powerpoint/2010/main" val="4215455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C5D2-0D81-1CBE-FEAB-37375214E676}"/>
              </a:ext>
            </a:extLst>
          </p:cNvPr>
          <p:cNvSpPr>
            <a:spLocks noGrp="1"/>
          </p:cNvSpPr>
          <p:nvPr>
            <p:ph type="title"/>
          </p:nvPr>
        </p:nvSpPr>
        <p:spPr/>
        <p:txBody>
          <a:bodyPr/>
          <a:lstStyle/>
          <a:p>
            <a:r>
              <a:rPr lang="en-US" dirty="0" err="1"/>
              <a:t>os.stat</a:t>
            </a:r>
            <a:r>
              <a:rPr lang="en-US" dirty="0"/>
              <a:t>()</a:t>
            </a:r>
            <a:endParaRPr lang="en-IN" dirty="0"/>
          </a:p>
        </p:txBody>
      </p:sp>
      <p:sp>
        <p:nvSpPr>
          <p:cNvPr id="3" name="Content Placeholder 2">
            <a:extLst>
              <a:ext uri="{FF2B5EF4-FFF2-40B4-BE49-F238E27FC236}">
                <a16:creationId xmlns:a16="http://schemas.microsoft.com/office/drawing/2014/main" id="{540D751E-03F7-FBAB-B801-17FA54A77E03}"/>
              </a:ext>
            </a:extLst>
          </p:cNvPr>
          <p:cNvSpPr>
            <a:spLocks noGrp="1"/>
          </p:cNvSpPr>
          <p:nvPr>
            <p:ph idx="1"/>
          </p:nvPr>
        </p:nvSpPr>
        <p:spPr/>
        <p:txBody>
          <a:bodyPr>
            <a:normAutofit lnSpcReduction="10000"/>
          </a:bodyPr>
          <a:lstStyle/>
          <a:p>
            <a:r>
              <a:rPr lang="en-US" dirty="0"/>
              <a:t>The </a:t>
            </a:r>
            <a:r>
              <a:rPr lang="en-US" dirty="0" err="1"/>
              <a:t>os.stat</a:t>
            </a:r>
            <a:r>
              <a:rPr lang="en-US" dirty="0"/>
              <a:t>() retrieves several pieces of information about a path.</a:t>
            </a:r>
          </a:p>
          <a:p>
            <a:r>
              <a:rPr lang="en-US" dirty="0" err="1"/>
              <a:t>Eg</a:t>
            </a:r>
            <a:r>
              <a:rPr lang="en-US" dirty="0"/>
              <a:t>: file’s size as well as the time it was last modified</a:t>
            </a:r>
          </a:p>
          <a:p>
            <a:r>
              <a:rPr lang="en-US" dirty="0"/>
              <a:t>The </a:t>
            </a:r>
            <a:r>
              <a:rPr lang="en-US" dirty="0" err="1"/>
              <a:t>os.stat</a:t>
            </a:r>
            <a:r>
              <a:rPr lang="en-US" dirty="0"/>
              <a:t>(path) function solves this problem by returning a tuple with ten pieces of information all at once</a:t>
            </a:r>
          </a:p>
          <a:p>
            <a:r>
              <a:rPr lang="fr-FR" dirty="0" err="1">
                <a:solidFill>
                  <a:srgbClr val="FF0000"/>
                </a:solidFill>
              </a:rPr>
              <a:t>os.stat</a:t>
            </a:r>
            <a:r>
              <a:rPr lang="fr-FR" dirty="0">
                <a:solidFill>
                  <a:srgbClr val="FF0000"/>
                </a:solidFill>
              </a:rPr>
              <a:t>('C:\\Program Files\\Common Files\\Oracle\\Java\\</a:t>
            </a:r>
            <a:r>
              <a:rPr lang="fr-FR" dirty="0" err="1">
                <a:solidFill>
                  <a:srgbClr val="FF0000"/>
                </a:solidFill>
              </a:rPr>
              <a:t>javapath</a:t>
            </a:r>
            <a:r>
              <a:rPr lang="fr-FR" dirty="0">
                <a:solidFill>
                  <a:srgbClr val="FF0000"/>
                </a:solidFill>
              </a:rPr>
              <a:t>')</a:t>
            </a:r>
            <a:endParaRPr lang="en-IN" dirty="0">
              <a:solidFill>
                <a:srgbClr val="FF0000"/>
              </a:solidFill>
            </a:endParaRPr>
          </a:p>
        </p:txBody>
      </p:sp>
    </p:spTree>
    <p:extLst>
      <p:ext uri="{BB962C8B-B14F-4D97-AF65-F5344CB8AC3E}">
        <p14:creationId xmlns:p14="http://schemas.microsoft.com/office/powerpoint/2010/main" val="2514071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FB55D-8DBD-AD77-E217-7FC90A7A7B14}"/>
              </a:ext>
            </a:extLst>
          </p:cNvPr>
          <p:cNvSpPr>
            <a:spLocks noGrp="1"/>
          </p:cNvSpPr>
          <p:nvPr>
            <p:ph type="title"/>
          </p:nvPr>
        </p:nvSpPr>
        <p:spPr/>
        <p:txBody>
          <a:bodyPr/>
          <a:lstStyle/>
          <a:p>
            <a:r>
              <a:rPr lang="en-US" dirty="0" err="1"/>
              <a:t>os.stat</a:t>
            </a:r>
            <a:r>
              <a:rPr lang="en-US" dirty="0"/>
              <a:t>() values</a:t>
            </a:r>
            <a:endParaRPr lang="en-IN" dirty="0"/>
          </a:p>
        </p:txBody>
      </p:sp>
      <p:pic>
        <p:nvPicPr>
          <p:cNvPr id="5" name="Content Placeholder 4">
            <a:extLst>
              <a:ext uri="{FF2B5EF4-FFF2-40B4-BE49-F238E27FC236}">
                <a16:creationId xmlns:a16="http://schemas.microsoft.com/office/drawing/2014/main" id="{8EBAEC85-FCE6-30B1-4F70-E91628A38E01}"/>
              </a:ext>
            </a:extLst>
          </p:cNvPr>
          <p:cNvPicPr>
            <a:picLocks noGrp="1" noChangeAspect="1"/>
          </p:cNvPicPr>
          <p:nvPr>
            <p:ph idx="1"/>
          </p:nvPr>
        </p:nvPicPr>
        <p:blipFill>
          <a:blip r:embed="rId2"/>
          <a:stretch>
            <a:fillRect/>
          </a:stretch>
        </p:blipFill>
        <p:spPr>
          <a:xfrm>
            <a:off x="622249" y="1417638"/>
            <a:ext cx="7899501" cy="4718844"/>
          </a:xfrm>
        </p:spPr>
      </p:pic>
    </p:spTree>
    <p:extLst>
      <p:ext uri="{BB962C8B-B14F-4D97-AF65-F5344CB8AC3E}">
        <p14:creationId xmlns:p14="http://schemas.microsoft.com/office/powerpoint/2010/main" val="1244012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0FC1884-324C-E95B-BC30-A062617A8287}"/>
              </a:ext>
            </a:extLst>
          </p:cNvPr>
          <p:cNvPicPr>
            <a:picLocks noGrp="1" noChangeAspect="1"/>
          </p:cNvPicPr>
          <p:nvPr>
            <p:ph idx="1"/>
          </p:nvPr>
        </p:nvPicPr>
        <p:blipFill>
          <a:blip r:embed="rId2"/>
          <a:stretch>
            <a:fillRect/>
          </a:stretch>
        </p:blipFill>
        <p:spPr>
          <a:xfrm>
            <a:off x="482600" y="141478"/>
            <a:ext cx="8178799" cy="3844035"/>
          </a:xfrm>
          <a:prstGeom prst="rect">
            <a:avLst/>
          </a:prstGeom>
        </p:spPr>
      </p:pic>
      <p:sp>
        <p:nvSpPr>
          <p:cNvPr id="6" name="TextBox 5">
            <a:extLst>
              <a:ext uri="{FF2B5EF4-FFF2-40B4-BE49-F238E27FC236}">
                <a16:creationId xmlns:a16="http://schemas.microsoft.com/office/drawing/2014/main" id="{FE0BF3D5-98CB-4A87-7441-7271670DAE2C}"/>
              </a:ext>
            </a:extLst>
          </p:cNvPr>
          <p:cNvSpPr txBox="1"/>
          <p:nvPr/>
        </p:nvSpPr>
        <p:spPr>
          <a:xfrm>
            <a:off x="682752" y="4352544"/>
            <a:ext cx="7485888" cy="1477328"/>
          </a:xfrm>
          <a:prstGeom prst="rect">
            <a:avLst/>
          </a:prstGeom>
          <a:noFill/>
        </p:spPr>
        <p:txBody>
          <a:bodyPr wrap="square" rtlCol="0">
            <a:spAutoFit/>
          </a:bodyPr>
          <a:lstStyle/>
          <a:p>
            <a:r>
              <a:rPr lang="fr-FR" dirty="0"/>
              <a:t>import stat</a:t>
            </a:r>
          </a:p>
          <a:p>
            <a:r>
              <a:rPr lang="fr-FR" dirty="0"/>
              <a:t>mode = </a:t>
            </a:r>
            <a:r>
              <a:rPr lang="fr-FR" dirty="0" err="1"/>
              <a:t>os.stat</a:t>
            </a:r>
            <a:r>
              <a:rPr lang="fr-FR" dirty="0"/>
              <a:t>('C:\\Program Files\\Common Files\\Oracle\\Java\\</a:t>
            </a:r>
            <a:r>
              <a:rPr lang="fr-FR" dirty="0" err="1"/>
              <a:t>javapath</a:t>
            </a:r>
            <a:r>
              <a:rPr lang="fr-FR" dirty="0"/>
              <a:t>')[</a:t>
            </a:r>
            <a:r>
              <a:rPr lang="fr-FR" dirty="0" err="1"/>
              <a:t>stat.ST_MODE</a:t>
            </a:r>
            <a:r>
              <a:rPr lang="fr-FR" dirty="0"/>
              <a:t>]</a:t>
            </a:r>
          </a:p>
          <a:p>
            <a:r>
              <a:rPr lang="en-IN" dirty="0" err="1"/>
              <a:t>stat.S_ISREG</a:t>
            </a:r>
            <a:r>
              <a:rPr lang="en-IN" dirty="0"/>
              <a:t>(mode)</a:t>
            </a:r>
          </a:p>
          <a:p>
            <a:r>
              <a:rPr lang="en-IN" dirty="0"/>
              <a:t>False</a:t>
            </a:r>
          </a:p>
        </p:txBody>
      </p:sp>
    </p:spTree>
    <p:extLst>
      <p:ext uri="{BB962C8B-B14F-4D97-AF65-F5344CB8AC3E}">
        <p14:creationId xmlns:p14="http://schemas.microsoft.com/office/powerpoint/2010/main" val="1664828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F80DD-2521-C172-EFC1-42E432925F3E}"/>
              </a:ext>
            </a:extLst>
          </p:cNvPr>
          <p:cNvSpPr>
            <a:spLocks noGrp="1"/>
          </p:cNvSpPr>
          <p:nvPr>
            <p:ph type="title"/>
          </p:nvPr>
        </p:nvSpPr>
        <p:spPr>
          <a:xfrm>
            <a:off x="457200" y="274638"/>
            <a:ext cx="8229600" cy="895794"/>
          </a:xfrm>
        </p:spPr>
        <p:txBody>
          <a:bodyPr/>
          <a:lstStyle/>
          <a:p>
            <a:r>
              <a:rPr lang="en-US" dirty="0"/>
              <a:t>Listing Directories</a:t>
            </a:r>
            <a:endParaRPr lang="en-IN" dirty="0"/>
          </a:p>
        </p:txBody>
      </p:sp>
      <p:sp>
        <p:nvSpPr>
          <p:cNvPr id="3" name="Content Placeholder 2">
            <a:extLst>
              <a:ext uri="{FF2B5EF4-FFF2-40B4-BE49-F238E27FC236}">
                <a16:creationId xmlns:a16="http://schemas.microsoft.com/office/drawing/2014/main" id="{CE712C31-61B6-5B6E-9AAB-36123A928E3E}"/>
              </a:ext>
            </a:extLst>
          </p:cNvPr>
          <p:cNvSpPr>
            <a:spLocks noGrp="1"/>
          </p:cNvSpPr>
          <p:nvPr>
            <p:ph idx="1"/>
          </p:nvPr>
        </p:nvSpPr>
        <p:spPr>
          <a:xfrm>
            <a:off x="457200" y="1304544"/>
            <a:ext cx="8229600" cy="5108448"/>
          </a:xfrm>
        </p:spPr>
        <p:txBody>
          <a:bodyPr>
            <a:normAutofit fontScale="70000" lnSpcReduction="20000"/>
          </a:bodyPr>
          <a:lstStyle/>
          <a:p>
            <a:r>
              <a:rPr lang="en-US" dirty="0"/>
              <a:t>The </a:t>
            </a:r>
            <a:r>
              <a:rPr lang="en-US" dirty="0" err="1"/>
              <a:t>os.listdir</a:t>
            </a:r>
            <a:r>
              <a:rPr lang="en-US" dirty="0"/>
              <a:t>(</a:t>
            </a:r>
            <a:r>
              <a:rPr lang="en-US" dirty="0" err="1"/>
              <a:t>dir</a:t>
            </a:r>
            <a:r>
              <a:rPr lang="en-US" dirty="0"/>
              <a:t>) function returns a list containing all the files in the given directory:</a:t>
            </a:r>
          </a:p>
          <a:p>
            <a:r>
              <a:rPr lang="en-IN" dirty="0" err="1"/>
              <a:t>os.listdir</a:t>
            </a:r>
            <a:r>
              <a:rPr lang="en-IN" dirty="0"/>
              <a:t>('c:\\Program Files’)</a:t>
            </a:r>
            <a:endParaRPr lang="en-US" dirty="0"/>
          </a:p>
          <a:p>
            <a:r>
              <a:rPr lang="en-IN" dirty="0">
                <a:solidFill>
                  <a:schemeClr val="tx2"/>
                </a:solidFill>
              </a:rPr>
              <a:t>['Common Files', 'desktop.ini', 'DTU', 'Google', 'IIS', 'Internet Explorer', 'Java', '</a:t>
            </a:r>
            <a:r>
              <a:rPr lang="en-IN" dirty="0" err="1">
                <a:solidFill>
                  <a:schemeClr val="tx2"/>
                </a:solidFill>
              </a:rPr>
              <a:t>KMSpico</a:t>
            </a:r>
            <a:r>
              <a:rPr lang="en-IN" dirty="0">
                <a:solidFill>
                  <a:schemeClr val="tx2"/>
                </a:solidFill>
              </a:rPr>
              <a:t>', 'Mendeley Reference Manager', 'Microsoft', 'Microsoft Help Viewer', 'Microsoft Office', 'Microsoft Office 15', 'Microsoft OneDrive', 'Microsoft SQL Server', 'Microsoft SQL Server Compact Edition', 'Microsoft Sync Framework', 'Microsoft Synchronization Services', 'Microsoft Update Health Tools', 'Microsoft Visual Studio 10.0', 'Microsoft Visual Studio 9.0', 'Microsoft.NET', '</a:t>
            </a:r>
            <a:r>
              <a:rPr lang="en-IN" dirty="0" err="1">
                <a:solidFill>
                  <a:schemeClr val="tx2"/>
                </a:solidFill>
              </a:rPr>
              <a:t>ModifiableWindowsApps</a:t>
            </a:r>
            <a:r>
              <a:rPr lang="en-IN" dirty="0">
                <a:solidFill>
                  <a:schemeClr val="tx2"/>
                </a:solidFill>
              </a:rPr>
              <a:t>', 'Mozilla Firefox', '</a:t>
            </a:r>
            <a:r>
              <a:rPr lang="en-IN" dirty="0" err="1">
                <a:solidFill>
                  <a:schemeClr val="tx2"/>
                </a:solidFill>
              </a:rPr>
              <a:t>MSBuild</a:t>
            </a:r>
            <a:r>
              <a:rPr lang="en-IN" dirty="0">
                <a:solidFill>
                  <a:schemeClr val="tx2"/>
                </a:solidFill>
              </a:rPr>
              <a:t>', 'MySQL', '</a:t>
            </a:r>
            <a:r>
              <a:rPr lang="en-IN" dirty="0" err="1">
                <a:solidFill>
                  <a:schemeClr val="tx2"/>
                </a:solidFill>
              </a:rPr>
              <a:t>nodejs</a:t>
            </a:r>
            <a:r>
              <a:rPr lang="en-IN" dirty="0">
                <a:solidFill>
                  <a:schemeClr val="tx2"/>
                </a:solidFill>
              </a:rPr>
              <a:t>', '</a:t>
            </a:r>
            <a:r>
              <a:rPr lang="en-IN" dirty="0" err="1">
                <a:solidFill>
                  <a:schemeClr val="tx2"/>
                </a:solidFill>
              </a:rPr>
              <a:t>OpenLogic</a:t>
            </a:r>
            <a:r>
              <a:rPr lang="en-IN" dirty="0">
                <a:solidFill>
                  <a:schemeClr val="tx2"/>
                </a:solidFill>
              </a:rPr>
              <a:t>', '</a:t>
            </a:r>
            <a:r>
              <a:rPr lang="en-IN" dirty="0" err="1">
                <a:solidFill>
                  <a:schemeClr val="tx2"/>
                </a:solidFill>
              </a:rPr>
              <a:t>PCHealthCheck</a:t>
            </a:r>
            <a:r>
              <a:rPr lang="en-IN" dirty="0">
                <a:solidFill>
                  <a:schemeClr val="tx2"/>
                </a:solidFill>
              </a:rPr>
              <a:t>', 'Realtek', 'Reference Assemblies', 'RUXIM', 'Synaptics', 'Uninstall Information', 'Windows Defender', 'Windows Defender Advanced Threat Protection', 'Windows Mail', 'Windows Media Player', 'Windows Multimedia Platform', 'Windows NT', 'Windows Photo Viewer', 'Windows Portable Devices', 'Windows Security', 'Windows Sidebar', '</a:t>
            </a:r>
            <a:r>
              <a:rPr lang="en-IN" dirty="0" err="1">
                <a:solidFill>
                  <a:schemeClr val="tx2"/>
                </a:solidFill>
              </a:rPr>
              <a:t>WindowsApps</a:t>
            </a:r>
            <a:r>
              <a:rPr lang="en-IN" dirty="0">
                <a:solidFill>
                  <a:schemeClr val="tx2"/>
                </a:solidFill>
              </a:rPr>
              <a:t>', '</a:t>
            </a:r>
            <a:r>
              <a:rPr lang="en-IN" dirty="0" err="1">
                <a:solidFill>
                  <a:schemeClr val="tx2"/>
                </a:solidFill>
              </a:rPr>
              <a:t>WindowsPowerShell</a:t>
            </a:r>
            <a:r>
              <a:rPr lang="en-IN" dirty="0">
                <a:solidFill>
                  <a:schemeClr val="tx2"/>
                </a:solidFill>
              </a:rPr>
              <a:t>']</a:t>
            </a:r>
          </a:p>
        </p:txBody>
      </p:sp>
    </p:spTree>
    <p:extLst>
      <p:ext uri="{BB962C8B-B14F-4D97-AF65-F5344CB8AC3E}">
        <p14:creationId xmlns:p14="http://schemas.microsoft.com/office/powerpoint/2010/main" val="867373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9299D-FCD6-E214-2BD9-1396C7CBCF3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A48E4FF-CE7D-63CE-9318-076C3B809716}"/>
              </a:ext>
            </a:extLst>
          </p:cNvPr>
          <p:cNvSpPr>
            <a:spLocks noGrp="1"/>
          </p:cNvSpPr>
          <p:nvPr>
            <p:ph idx="1"/>
          </p:nvPr>
        </p:nvSpPr>
        <p:spPr/>
        <p:txBody>
          <a:bodyPr/>
          <a:lstStyle/>
          <a:p>
            <a:r>
              <a:rPr lang="en-US" dirty="0"/>
              <a:t>The </a:t>
            </a:r>
            <a:r>
              <a:rPr lang="en-US" dirty="0" err="1"/>
              <a:t>dircache</a:t>
            </a:r>
            <a:r>
              <a:rPr lang="en-US" dirty="0"/>
              <a:t> module provides its own </a:t>
            </a:r>
            <a:r>
              <a:rPr lang="en-US" dirty="0" err="1"/>
              <a:t>listdir</a:t>
            </a:r>
            <a:r>
              <a:rPr lang="en-US" dirty="0"/>
              <a:t> function that maintains a cache to increase the performance of repeated calls</a:t>
            </a:r>
            <a:endParaRPr lang="en-IN" dirty="0"/>
          </a:p>
        </p:txBody>
      </p:sp>
    </p:spTree>
    <p:extLst>
      <p:ext uri="{BB962C8B-B14F-4D97-AF65-F5344CB8AC3E}">
        <p14:creationId xmlns:p14="http://schemas.microsoft.com/office/powerpoint/2010/main" val="557325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Creating and Reading Text Files</a:t>
            </a:r>
          </a:p>
        </p:txBody>
      </p:sp>
      <p:sp>
        <p:nvSpPr>
          <p:cNvPr id="3" name="Content Placeholder 2"/>
          <p:cNvSpPr>
            <a:spLocks noGrp="1"/>
          </p:cNvSpPr>
          <p:nvPr>
            <p:ph idx="1"/>
          </p:nvPr>
        </p:nvSpPr>
        <p:spPr/>
        <p:txBody>
          <a:bodyPr/>
          <a:lstStyle/>
          <a:p>
            <a:r>
              <a:t>Using open() function to create and read files.</a:t>
            </a:r>
          </a:p>
          <a:p>
            <a:r>
              <a:t>Modes: 'r', 'w', 'a', 'r+', 'w+'.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Creating a Text File</a:t>
            </a:r>
          </a:p>
        </p:txBody>
      </p:sp>
      <p:sp>
        <p:nvSpPr>
          <p:cNvPr id="3" name="Content Placeholder 2"/>
          <p:cNvSpPr>
            <a:spLocks noGrp="1"/>
          </p:cNvSpPr>
          <p:nvPr>
            <p:ph idx="1"/>
          </p:nvPr>
        </p:nvSpPr>
        <p:spPr/>
        <p:txBody>
          <a:bodyPr/>
          <a:lstStyle/>
          <a:p>
            <a:r>
              <a:t>file = open('example.txt', 'w')</a:t>
            </a:r>
          </a:p>
          <a:p>
            <a:r>
              <a:t>file.write('Hello, World!')</a:t>
            </a:r>
          </a:p>
          <a:p>
            <a:r>
              <a:t>file.close()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Reading a Text File</a:t>
            </a:r>
          </a:p>
        </p:txBody>
      </p:sp>
      <p:sp>
        <p:nvSpPr>
          <p:cNvPr id="3" name="Content Placeholder 2"/>
          <p:cNvSpPr>
            <a:spLocks noGrp="1"/>
          </p:cNvSpPr>
          <p:nvPr>
            <p:ph idx="1"/>
          </p:nvPr>
        </p:nvSpPr>
        <p:spPr/>
        <p:txBody>
          <a:bodyPr/>
          <a:lstStyle/>
          <a:p>
            <a:r>
              <a:t>file = open('example.txt', 'r')</a:t>
            </a:r>
          </a:p>
          <a:p>
            <a:r>
              <a:t>content = file.read()</a:t>
            </a:r>
          </a:p>
          <a:p>
            <a:r>
              <a:t>print(content)</a:t>
            </a:r>
          </a:p>
          <a:p>
            <a:r>
              <a:t>file.close()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File Methods: Read &amp; Write</a:t>
            </a:r>
          </a:p>
        </p:txBody>
      </p:sp>
      <p:sp>
        <p:nvSpPr>
          <p:cNvPr id="3" name="Content Placeholder 2"/>
          <p:cNvSpPr>
            <a:spLocks noGrp="1"/>
          </p:cNvSpPr>
          <p:nvPr>
            <p:ph idx="1"/>
          </p:nvPr>
        </p:nvSpPr>
        <p:spPr/>
        <p:txBody>
          <a:bodyPr/>
          <a:lstStyle/>
          <a:p>
            <a:r>
              <a:t>read(), readline(), readlines(), write(), writelines().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Reading Methods</a:t>
            </a:r>
          </a:p>
        </p:txBody>
      </p:sp>
      <p:sp>
        <p:nvSpPr>
          <p:cNvPr id="3" name="Content Placeholder 2"/>
          <p:cNvSpPr>
            <a:spLocks noGrp="1"/>
          </p:cNvSpPr>
          <p:nvPr>
            <p:ph idx="1"/>
          </p:nvPr>
        </p:nvSpPr>
        <p:spPr/>
        <p:txBody>
          <a:bodyPr/>
          <a:lstStyle/>
          <a:p>
            <a:r>
              <a:t>file.read() - Reads the entire file.</a:t>
            </a:r>
          </a:p>
          <a:p>
            <a:r>
              <a:t>file.readline() - Reads one line.</a:t>
            </a:r>
          </a:p>
          <a:p>
            <a:r>
              <a:t>file.readlines() - Reads all lines into a list.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Writing to a File</a:t>
            </a:r>
          </a:p>
        </p:txBody>
      </p:sp>
      <p:sp>
        <p:nvSpPr>
          <p:cNvPr id="3" name="Content Placeholder 2"/>
          <p:cNvSpPr>
            <a:spLocks noGrp="1"/>
          </p:cNvSpPr>
          <p:nvPr>
            <p:ph idx="1"/>
          </p:nvPr>
        </p:nvSpPr>
        <p:spPr/>
        <p:txBody>
          <a:bodyPr/>
          <a:lstStyle/>
          <a:p>
            <a:r>
              <a:t>file.write('Appending Data')</a:t>
            </a:r>
          </a:p>
          <a:p>
            <a:r>
              <a:t>file.writelines(['Line1', 'Line2'])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Appending Data to a File</a:t>
            </a:r>
          </a:p>
        </p:txBody>
      </p:sp>
      <p:sp>
        <p:nvSpPr>
          <p:cNvPr id="3" name="Content Placeholder 2"/>
          <p:cNvSpPr>
            <a:spLocks noGrp="1"/>
          </p:cNvSpPr>
          <p:nvPr>
            <p:ph idx="1"/>
          </p:nvPr>
        </p:nvSpPr>
        <p:spPr/>
        <p:txBody>
          <a:bodyPr/>
          <a:lstStyle/>
          <a:p>
            <a:r>
              <a:t>file = open('example.txt', 'a')</a:t>
            </a:r>
          </a:p>
          <a:p>
            <a:r>
              <a:t>file.write('\nNew Line')</a:t>
            </a:r>
          </a:p>
          <a:p>
            <a:r>
              <a:t>file.close()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Working with Binary Files</a:t>
            </a:r>
          </a:p>
        </p:txBody>
      </p:sp>
      <p:sp>
        <p:nvSpPr>
          <p:cNvPr id="3" name="Content Placeholder 2"/>
          <p:cNvSpPr>
            <a:spLocks noGrp="1"/>
          </p:cNvSpPr>
          <p:nvPr>
            <p:ph idx="1"/>
          </p:nvPr>
        </p:nvSpPr>
        <p:spPr/>
        <p:txBody>
          <a:bodyPr/>
          <a:lstStyle/>
          <a:p>
            <a:r>
              <a:t>Binary files store data in binary format, e.g., images, executables.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Reading and Writing Binary Files</a:t>
            </a:r>
          </a:p>
        </p:txBody>
      </p:sp>
      <p:sp>
        <p:nvSpPr>
          <p:cNvPr id="3" name="Content Placeholder 2"/>
          <p:cNvSpPr>
            <a:spLocks noGrp="1"/>
          </p:cNvSpPr>
          <p:nvPr>
            <p:ph idx="1"/>
          </p:nvPr>
        </p:nvSpPr>
        <p:spPr/>
        <p:txBody>
          <a:bodyPr/>
          <a:lstStyle/>
          <a:p>
            <a:r>
              <a:t>Use 'rb' and 'wb' modes to read/write binary files.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Writing Binary Data</a:t>
            </a:r>
          </a:p>
        </p:txBody>
      </p:sp>
      <p:sp>
        <p:nvSpPr>
          <p:cNvPr id="3" name="Content Placeholder 2"/>
          <p:cNvSpPr>
            <a:spLocks noGrp="1"/>
          </p:cNvSpPr>
          <p:nvPr>
            <p:ph idx="1"/>
          </p:nvPr>
        </p:nvSpPr>
        <p:spPr/>
        <p:txBody>
          <a:bodyPr/>
          <a:lstStyle/>
          <a:p>
            <a:r>
              <a:t>file = open('image.jpg', 'rb')</a:t>
            </a:r>
          </a:p>
          <a:p>
            <a:r>
              <a:t>data = file.read()</a:t>
            </a:r>
          </a:p>
          <a:p>
            <a:r>
              <a:t>file.close()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Copying Binary Files</a:t>
            </a:r>
          </a:p>
        </p:txBody>
      </p:sp>
      <p:sp>
        <p:nvSpPr>
          <p:cNvPr id="3" name="Content Placeholder 2"/>
          <p:cNvSpPr>
            <a:spLocks noGrp="1"/>
          </p:cNvSpPr>
          <p:nvPr>
            <p:ph idx="1"/>
          </p:nvPr>
        </p:nvSpPr>
        <p:spPr/>
        <p:txBody>
          <a:bodyPr/>
          <a:lstStyle/>
          <a:p>
            <a:r>
              <a:t>with open('source.jpg', 'rb') as src, open('copy.jpg', 'wb') as dst:</a:t>
            </a:r>
          </a:p>
          <a:p>
            <a:r>
              <a:t>    dst.write(src.read())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Pickle Module</a:t>
            </a:r>
          </a:p>
        </p:txBody>
      </p:sp>
      <p:sp>
        <p:nvSpPr>
          <p:cNvPr id="3" name="Content Placeholder 2"/>
          <p:cNvSpPr>
            <a:spLocks noGrp="1"/>
          </p:cNvSpPr>
          <p:nvPr>
            <p:ph idx="1"/>
          </p:nvPr>
        </p:nvSpPr>
        <p:spPr/>
        <p:txBody>
          <a:bodyPr>
            <a:normAutofit fontScale="77500" lnSpcReduction="20000"/>
          </a:bodyPr>
          <a:lstStyle/>
          <a:p>
            <a:r>
              <a:rPr dirty="0"/>
              <a:t>Used to serialize and deserialize Python objects into binary format.</a:t>
            </a:r>
            <a:endParaRPr lang="en-US" dirty="0"/>
          </a:p>
          <a:p>
            <a:r>
              <a:rPr lang="en-US" b="0" i="0" dirty="0">
                <a:solidFill>
                  <a:srgbClr val="273239"/>
                </a:solidFill>
                <a:effectLst/>
                <a:latin typeface="Nunito" pitchFamily="2" charset="0"/>
              </a:rPr>
              <a:t>Any object in Python can be pickled so that it can be saved on disk. </a:t>
            </a:r>
          </a:p>
          <a:p>
            <a:r>
              <a:rPr lang="en-US" b="0" i="0" dirty="0">
                <a:solidFill>
                  <a:srgbClr val="273239"/>
                </a:solidFill>
                <a:effectLst/>
                <a:latin typeface="Nunito" pitchFamily="2" charset="0"/>
              </a:rPr>
              <a:t>What Pickle does is it “serializes” the object first before writing it to a file. Pickling is a way to convert a Python object (list, dictionary, etc.) into a character stream.</a:t>
            </a:r>
          </a:p>
          <a:p>
            <a:r>
              <a:rPr lang="en-US" b="0" i="0" dirty="0">
                <a:solidFill>
                  <a:srgbClr val="273239"/>
                </a:solidFill>
                <a:effectLst/>
                <a:latin typeface="Nunito" pitchFamily="2" charset="0"/>
              </a:rPr>
              <a:t>It provides a facility to convert any Python object to a byte stream. This Byte stream contains all essential information about the object so that it can be reconstructed, or “unpickled” and get back into its original form in any Python.</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54A371-F58D-42D1-30F9-DA4B9FEF3221}"/>
              </a:ext>
            </a:extLst>
          </p:cNvPr>
          <p:cNvPicPr>
            <a:picLocks noChangeAspect="1"/>
          </p:cNvPicPr>
          <p:nvPr/>
        </p:nvPicPr>
        <p:blipFill>
          <a:blip r:embed="rId2"/>
          <a:stretch>
            <a:fillRect/>
          </a:stretch>
        </p:blipFill>
        <p:spPr>
          <a:xfrm>
            <a:off x="482600" y="985583"/>
            <a:ext cx="8178799" cy="4886832"/>
          </a:xfrm>
          <a:prstGeom prst="rect">
            <a:avLst/>
          </a:prstGeom>
        </p:spPr>
      </p:pic>
    </p:spTree>
    <p:extLst>
      <p:ext uri="{BB962C8B-B14F-4D97-AF65-F5344CB8AC3E}">
        <p14:creationId xmlns:p14="http://schemas.microsoft.com/office/powerpoint/2010/main" val="13085461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22E4AE-A014-49A8-A3FE-75C2B1568E1C}"/>
              </a:ext>
            </a:extLst>
          </p:cNvPr>
          <p:cNvPicPr>
            <a:picLocks noChangeAspect="1"/>
          </p:cNvPicPr>
          <p:nvPr/>
        </p:nvPicPr>
        <p:blipFill>
          <a:blip r:embed="rId2"/>
          <a:stretch>
            <a:fillRect/>
          </a:stretch>
        </p:blipFill>
        <p:spPr>
          <a:xfrm>
            <a:off x="475489" y="377952"/>
            <a:ext cx="7886416" cy="6348928"/>
          </a:xfrm>
          <a:prstGeom prst="rect">
            <a:avLst/>
          </a:prstGeom>
        </p:spPr>
      </p:pic>
    </p:spTree>
    <p:extLst>
      <p:ext uri="{BB962C8B-B14F-4D97-AF65-F5344CB8AC3E}">
        <p14:creationId xmlns:p14="http://schemas.microsoft.com/office/powerpoint/2010/main" val="18971407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548D8-963D-4C68-A099-C258826A89E4}"/>
              </a:ext>
            </a:extLst>
          </p:cNvPr>
          <p:cNvSpPr>
            <a:spLocks noGrp="1"/>
          </p:cNvSpPr>
          <p:nvPr>
            <p:ph type="title"/>
          </p:nvPr>
        </p:nvSpPr>
        <p:spPr/>
        <p:txBody>
          <a:bodyPr/>
          <a:lstStyle/>
          <a:p>
            <a:r>
              <a:rPr lang="en-US" dirty="0"/>
              <a:t>Advantages of Pickel</a:t>
            </a:r>
            <a:endParaRPr lang="en-IN" dirty="0"/>
          </a:p>
        </p:txBody>
      </p:sp>
      <p:sp>
        <p:nvSpPr>
          <p:cNvPr id="3" name="Content Placeholder 2">
            <a:extLst>
              <a:ext uri="{FF2B5EF4-FFF2-40B4-BE49-F238E27FC236}">
                <a16:creationId xmlns:a16="http://schemas.microsoft.com/office/drawing/2014/main" id="{2D75F3B9-DC97-9AB0-AEE5-128B0F6DE845}"/>
              </a:ext>
            </a:extLst>
          </p:cNvPr>
          <p:cNvSpPr>
            <a:spLocks noGrp="1"/>
          </p:cNvSpPr>
          <p:nvPr>
            <p:ph idx="1"/>
          </p:nvPr>
        </p:nvSpPr>
        <p:spPr/>
        <p:txBody>
          <a:bodyPr>
            <a:normAutofit fontScale="85000" lnSpcReduction="10000"/>
          </a:bodyPr>
          <a:lstStyle/>
          <a:p>
            <a:r>
              <a:rPr lang="en-US" b="1" i="0" dirty="0">
                <a:solidFill>
                  <a:srgbClr val="273239"/>
                </a:solidFill>
                <a:effectLst/>
                <a:latin typeface="Nunito" pitchFamily="2" charset="0"/>
              </a:rPr>
              <a:t>Object sharing (references to the same object in different places):</a:t>
            </a:r>
            <a:r>
              <a:rPr lang="en-US" b="0" i="0" dirty="0">
                <a:solidFill>
                  <a:srgbClr val="273239"/>
                </a:solidFill>
                <a:effectLst/>
                <a:latin typeface="Nunito" pitchFamily="2" charset="0"/>
              </a:rPr>
              <a:t> This is similar to self-referencing objects. Pickle stores the object once, and ensures that all other references point to the master copy. Shared objects remain shared, which can be very important for mutable objects.</a:t>
            </a:r>
          </a:p>
          <a:p>
            <a:r>
              <a:rPr lang="en-US" b="1" i="0" dirty="0">
                <a:solidFill>
                  <a:srgbClr val="273239"/>
                </a:solidFill>
                <a:effectLst/>
                <a:latin typeface="Nunito" pitchFamily="2" charset="0"/>
              </a:rPr>
              <a:t>Recursive objects (objects containing references to themselves):</a:t>
            </a:r>
            <a:r>
              <a:rPr lang="en-US" b="0" i="0" dirty="0">
                <a:solidFill>
                  <a:srgbClr val="273239"/>
                </a:solidFill>
                <a:effectLst/>
                <a:latin typeface="Nunito" pitchFamily="2" charset="0"/>
              </a:rPr>
              <a:t> Pickle keeps track of the objects it has already serialized, so later references to the same object won’t be serialized again</a:t>
            </a:r>
            <a:endParaRPr lang="en-IN" dirty="0"/>
          </a:p>
        </p:txBody>
      </p:sp>
    </p:spTree>
    <p:extLst>
      <p:ext uri="{BB962C8B-B14F-4D97-AF65-F5344CB8AC3E}">
        <p14:creationId xmlns:p14="http://schemas.microsoft.com/office/powerpoint/2010/main" val="24439842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Pickle Serialization</a:t>
            </a:r>
          </a:p>
        </p:txBody>
      </p:sp>
      <p:sp>
        <p:nvSpPr>
          <p:cNvPr id="3" name="Content Placeholder 2"/>
          <p:cNvSpPr>
            <a:spLocks noGrp="1"/>
          </p:cNvSpPr>
          <p:nvPr>
            <p:ph idx="1"/>
          </p:nvPr>
        </p:nvSpPr>
        <p:spPr/>
        <p:txBody>
          <a:bodyPr/>
          <a:lstStyle/>
          <a:p>
            <a:r>
              <a:t>import pickle</a:t>
            </a:r>
          </a:p>
          <a:p>
            <a:r>
              <a:t>data = {'a': 1, 'b': 2}</a:t>
            </a:r>
          </a:p>
          <a:p>
            <a:r>
              <a:t>with open('data.pkl', 'wb') as f:</a:t>
            </a:r>
          </a:p>
          <a:p>
            <a:r>
              <a:t>    pickle.dump(data, 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Pickle Deserialization</a:t>
            </a:r>
          </a:p>
        </p:txBody>
      </p:sp>
      <p:sp>
        <p:nvSpPr>
          <p:cNvPr id="3" name="Content Placeholder 2"/>
          <p:cNvSpPr>
            <a:spLocks noGrp="1"/>
          </p:cNvSpPr>
          <p:nvPr>
            <p:ph idx="1"/>
          </p:nvPr>
        </p:nvSpPr>
        <p:spPr/>
        <p:txBody>
          <a:bodyPr/>
          <a:lstStyle/>
          <a:p>
            <a:r>
              <a:t>with open('data.pkl', 'rb') as f:</a:t>
            </a:r>
          </a:p>
          <a:p>
            <a:r>
              <a:t>    data = pickle.load(f)</a:t>
            </a:r>
          </a:p>
          <a:p>
            <a:r>
              <a:t>print(data)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Reading and Writing CSV Files</a:t>
            </a:r>
          </a:p>
        </p:txBody>
      </p:sp>
      <p:sp>
        <p:nvSpPr>
          <p:cNvPr id="3" name="Content Placeholder 2"/>
          <p:cNvSpPr>
            <a:spLocks noGrp="1"/>
          </p:cNvSpPr>
          <p:nvPr>
            <p:ph idx="1"/>
          </p:nvPr>
        </p:nvSpPr>
        <p:spPr/>
        <p:txBody>
          <a:bodyPr/>
          <a:lstStyle/>
          <a:p>
            <a:r>
              <a:t>Use Python’s csv module to work with CSV files.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Writing a CSV File</a:t>
            </a:r>
          </a:p>
        </p:txBody>
      </p:sp>
      <p:sp>
        <p:nvSpPr>
          <p:cNvPr id="3" name="Content Placeholder 2"/>
          <p:cNvSpPr>
            <a:spLocks noGrp="1"/>
          </p:cNvSpPr>
          <p:nvPr>
            <p:ph idx="1"/>
          </p:nvPr>
        </p:nvSpPr>
        <p:spPr/>
        <p:txBody>
          <a:bodyPr/>
          <a:lstStyle/>
          <a:p>
            <a:r>
              <a:t>import csv</a:t>
            </a:r>
          </a:p>
          <a:p>
            <a:r>
              <a:t>with open('data.csv', 'w', newline='') as f:</a:t>
            </a:r>
          </a:p>
          <a:p>
            <a:r>
              <a:t>    writer = csv.writer(f)</a:t>
            </a:r>
          </a:p>
          <a:p>
            <a:r>
              <a:t>    writer.writerow(['Name', 'Age'])</a:t>
            </a:r>
          </a:p>
          <a:p>
            <a:r>
              <a:t>    writer.writerow(['Alice', 25])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Reading a CSV File</a:t>
            </a:r>
          </a:p>
        </p:txBody>
      </p:sp>
      <p:sp>
        <p:nvSpPr>
          <p:cNvPr id="3" name="Content Placeholder 2"/>
          <p:cNvSpPr>
            <a:spLocks noGrp="1"/>
          </p:cNvSpPr>
          <p:nvPr>
            <p:ph idx="1"/>
          </p:nvPr>
        </p:nvSpPr>
        <p:spPr/>
        <p:txBody>
          <a:bodyPr/>
          <a:lstStyle/>
          <a:p>
            <a:r>
              <a:t>with open('data.csv', 'r') as f:</a:t>
            </a:r>
          </a:p>
          <a:p>
            <a:r>
              <a:t>    reader = csv.reader(f)</a:t>
            </a:r>
          </a:p>
          <a:p>
            <a:r>
              <a:t>    for row in reader:</a:t>
            </a:r>
          </a:p>
          <a:p>
            <a:r>
              <a:t>        print(row)</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Python os Module</a:t>
            </a:r>
          </a:p>
        </p:txBody>
      </p:sp>
      <p:sp>
        <p:nvSpPr>
          <p:cNvPr id="3" name="Content Placeholder 2"/>
          <p:cNvSpPr>
            <a:spLocks noGrp="1"/>
          </p:cNvSpPr>
          <p:nvPr>
            <p:ph idx="1"/>
          </p:nvPr>
        </p:nvSpPr>
        <p:spPr/>
        <p:txBody>
          <a:bodyPr/>
          <a:lstStyle/>
          <a:p>
            <a:r>
              <a:t>Provides functions to interact with the operating system.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Listing Files in Directory</a:t>
            </a:r>
          </a:p>
        </p:txBody>
      </p:sp>
      <p:sp>
        <p:nvSpPr>
          <p:cNvPr id="3" name="Content Placeholder 2"/>
          <p:cNvSpPr>
            <a:spLocks noGrp="1"/>
          </p:cNvSpPr>
          <p:nvPr>
            <p:ph idx="1"/>
          </p:nvPr>
        </p:nvSpPr>
        <p:spPr/>
        <p:txBody>
          <a:bodyPr/>
          <a:lstStyle/>
          <a:p>
            <a:r>
              <a:t>import os</a:t>
            </a:r>
          </a:p>
          <a:p>
            <a:r>
              <a:t>print(os.listdir('.'))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os.path Module</a:t>
            </a:r>
          </a:p>
        </p:txBody>
      </p:sp>
      <p:sp>
        <p:nvSpPr>
          <p:cNvPr id="3" name="Content Placeholder 2"/>
          <p:cNvSpPr>
            <a:spLocks noGrp="1"/>
          </p:cNvSpPr>
          <p:nvPr>
            <p:ph idx="1"/>
          </p:nvPr>
        </p:nvSpPr>
        <p:spPr/>
        <p:txBody>
          <a:bodyPr/>
          <a:lstStyle/>
          <a:p>
            <a:r>
              <a:t>Used for path manipulations like joining, checking existence.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Path Operations</a:t>
            </a:r>
          </a:p>
        </p:txBody>
      </p:sp>
      <p:sp>
        <p:nvSpPr>
          <p:cNvPr id="3" name="Content Placeholder 2"/>
          <p:cNvSpPr>
            <a:spLocks noGrp="1"/>
          </p:cNvSpPr>
          <p:nvPr>
            <p:ph idx="1"/>
          </p:nvPr>
        </p:nvSpPr>
        <p:spPr/>
        <p:txBody>
          <a:bodyPr/>
          <a:lstStyle/>
          <a:p>
            <a:r>
              <a:t>import os.path</a:t>
            </a:r>
          </a:p>
          <a:p>
            <a:r>
              <a:t>print(os.path.exists('data.csv'))</a:t>
            </a:r>
          </a:p>
          <a:p>
            <a:r>
              <a:t>print(os.path.join('dir', 'file.txt'))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9B7414-E6AE-3607-EF3D-3EF5E61C54D6}"/>
              </a:ext>
            </a:extLst>
          </p:cNvPr>
          <p:cNvSpPr/>
          <p:nvPr/>
        </p:nvSpPr>
        <p:spPr>
          <a:xfrm>
            <a:off x="2997531" y="2967335"/>
            <a:ext cx="3148939" cy="923330"/>
          </a:xfrm>
          <a:prstGeom prst="rect">
            <a:avLst/>
          </a:prstGeom>
          <a:noFill/>
        </p:spPr>
        <p:txBody>
          <a:bodyPr wrap="none" lIns="91440" tIns="45720" rIns="91440" bIns="45720">
            <a:spAutoFit/>
          </a:bodyPr>
          <a:lstStyle/>
          <a:p>
            <a:pPr algn="ctr"/>
            <a:r>
              <a:rPr lang="en-US" sz="5400" b="1" cap="none" spc="0">
                <a:ln w="22225">
                  <a:solidFill>
                    <a:schemeClr val="accent2"/>
                  </a:solidFill>
                  <a:prstDash val="solid"/>
                </a:ln>
                <a:solidFill>
                  <a:schemeClr val="accent2">
                    <a:lumMod val="40000"/>
                    <a:lumOff val="60000"/>
                  </a:schemeClr>
                </a:solidFill>
                <a:effectLst/>
              </a:rPr>
              <a:t>Thank You</a:t>
            </a:r>
            <a:endParaRPr lang="en-US" sz="5400" b="1" cap="none" spc="0" dirty="0">
              <a:ln w="22225">
                <a:solidFill>
                  <a:schemeClr val="accent2"/>
                </a:solidFill>
                <a:prstDash val="solid"/>
              </a:ln>
              <a:solidFill>
                <a:schemeClr val="accent2">
                  <a:lumMod val="40000"/>
                  <a:lumOff val="60000"/>
                </a:schemeClr>
              </a:solidFill>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59</TotalTime>
  <Words>1583</Words>
  <Application>Microsoft Office PowerPoint</Application>
  <PresentationFormat>On-screen Show (4:3)</PresentationFormat>
  <Paragraphs>119</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Nunito</vt:lpstr>
      <vt:lpstr>Office Theme</vt:lpstr>
      <vt:lpstr>File Handling in Python:</vt:lpstr>
      <vt:lpstr>Introduction to Files</vt:lpstr>
      <vt:lpstr>Types of Files</vt:lpstr>
      <vt:lpstr>The OS module</vt:lpstr>
      <vt:lpstr>PowerPoint Presentation</vt:lpstr>
      <vt:lpstr>Os.chmod values</vt:lpstr>
      <vt:lpstr>Absolute &amp; Relative Path</vt:lpstr>
      <vt:lpstr>PowerPoint Presentation</vt:lpstr>
      <vt:lpstr>os.stat()</vt:lpstr>
      <vt:lpstr>os.stat() values</vt:lpstr>
      <vt:lpstr>PowerPoint Presentation</vt:lpstr>
      <vt:lpstr>Listing Directories</vt:lpstr>
      <vt:lpstr>PowerPoint Presentation</vt:lpstr>
      <vt:lpstr>Creating and Reading Text Files</vt:lpstr>
      <vt:lpstr>Example: Creating a Text File</vt:lpstr>
      <vt:lpstr>Reading a Text File</vt:lpstr>
      <vt:lpstr>File Methods: Read &amp; Write</vt:lpstr>
      <vt:lpstr>Example: Reading Methods</vt:lpstr>
      <vt:lpstr>Writing to a File</vt:lpstr>
      <vt:lpstr>Appending Data to a File</vt:lpstr>
      <vt:lpstr>Working with Binary Files</vt:lpstr>
      <vt:lpstr>Reading and Writing Binary Files</vt:lpstr>
      <vt:lpstr>Example: Writing Binary Data</vt:lpstr>
      <vt:lpstr>Example: Copying Binary Files</vt:lpstr>
      <vt:lpstr>The Pickle Module</vt:lpstr>
      <vt:lpstr>PowerPoint Presentation</vt:lpstr>
      <vt:lpstr>PowerPoint Presentation</vt:lpstr>
      <vt:lpstr>Advantages of Pickel</vt:lpstr>
      <vt:lpstr>Example: Pickle Serialization</vt:lpstr>
      <vt:lpstr>Example: Pickle Deserialization</vt:lpstr>
      <vt:lpstr>Reading and Writing CSV Files</vt:lpstr>
      <vt:lpstr>Example: Writing a CSV File</vt:lpstr>
      <vt:lpstr>Example: Reading a CSV File</vt:lpstr>
      <vt:lpstr>Python os Module</vt:lpstr>
      <vt:lpstr>Example: Listing Files in Directory</vt:lpstr>
      <vt:lpstr>os.path Module</vt:lpstr>
      <vt:lpstr>Example: Path Operations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Dr Ashwin Bhagat</cp:lastModifiedBy>
  <cp:revision>30</cp:revision>
  <dcterms:created xsi:type="dcterms:W3CDTF">2013-01-27T09:14:16Z</dcterms:created>
  <dcterms:modified xsi:type="dcterms:W3CDTF">2025-04-22T10:02:08Z</dcterms:modified>
  <cp:category/>
</cp:coreProperties>
</file>