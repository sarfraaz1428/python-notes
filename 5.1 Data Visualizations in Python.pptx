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71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fraaz14282007111@gmail.com" userId="5d97500e3b346b9e" providerId="LiveId" clId="{874CD9B9-45A5-4EEB-95D5-C35F01922DB5}"/>
    <pc:docChg chg="modSld">
      <pc:chgData name="sarfraaz14282007111@gmail.com" userId="5d97500e3b346b9e" providerId="LiveId" clId="{874CD9B9-45A5-4EEB-95D5-C35F01922DB5}" dt="2025-06-05T04:07:52.494" v="0" actId="1038"/>
      <pc:docMkLst>
        <pc:docMk/>
      </pc:docMkLst>
      <pc:sldChg chg="modSp mod">
        <pc:chgData name="sarfraaz14282007111@gmail.com" userId="5d97500e3b346b9e" providerId="LiveId" clId="{874CD9B9-45A5-4EEB-95D5-C35F01922DB5}" dt="2025-06-05T04:07:52.494" v="0" actId="1038"/>
        <pc:sldMkLst>
          <pc:docMk/>
          <pc:sldMk cId="2548741848" sldId="270"/>
        </pc:sldMkLst>
        <pc:picChg chg="mod">
          <ac:chgData name="sarfraaz14282007111@gmail.com" userId="5d97500e3b346b9e" providerId="LiveId" clId="{874CD9B9-45A5-4EEB-95D5-C35F01922DB5}" dt="2025-06-05T04:07:52.494" v="0" actId="1038"/>
          <ac:picMkLst>
            <pc:docMk/>
            <pc:sldMk cId="2548741848" sldId="270"/>
            <ac:picMk id="5" creationId="{71E380A1-628F-79E9-6680-FF3F0B1EA18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3024B8-89AF-4221-B1D9-198ADEFE3C47}" type="datetimeFigureOut">
              <a:rPr lang="en-IN" smtClean="0"/>
              <a:t>05-06-2025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1926634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024B8-89AF-4221-B1D9-198ADEFE3C47}" type="datetimeFigureOut">
              <a:rPr lang="en-IN" smtClean="0"/>
              <a:t>05-06-2025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1941106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024B8-89AF-4221-B1D9-198ADEFE3C47}" type="datetimeFigureOut">
              <a:rPr lang="en-IN" smtClean="0"/>
              <a:t>05-06-2025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3634692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024B8-89AF-4221-B1D9-198ADEFE3C47}" type="datetimeFigureOut">
              <a:rPr lang="en-IN" smtClean="0"/>
              <a:t>05-06-2025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3460232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024B8-89AF-4221-B1D9-198ADEFE3C47}" type="datetimeFigureOut">
              <a:rPr lang="en-IN" smtClean="0"/>
              <a:t>05-06-2025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3262646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024B8-89AF-4221-B1D9-198ADEFE3C47}" type="datetimeFigureOut">
              <a:rPr lang="en-IN" smtClean="0"/>
              <a:t>05-06-2025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1300328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3024B8-89AF-4221-B1D9-198ADEFE3C47}" type="datetimeFigureOut">
              <a:rPr lang="en-IN" smtClean="0"/>
              <a:t>05-06-2025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9770002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024B8-89AF-4221-B1D9-198ADEFE3C47}" type="datetimeFigureOut">
              <a:rPr lang="en-IN" smtClean="0"/>
              <a:t>05-06-2025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1914073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3024B8-89AF-4221-B1D9-198ADEFE3C47}" type="datetimeFigureOut">
              <a:rPr lang="en-IN" smtClean="0"/>
              <a:t>05-06-2025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1666424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024B8-89AF-4221-B1D9-198ADEFE3C47}" type="datetimeFigureOut">
              <a:rPr lang="en-IN" smtClean="0"/>
              <a:t>05-06-2025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4100661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024B8-89AF-4221-B1D9-198ADEFE3C47}" type="datetimeFigureOut">
              <a:rPr lang="en-IN" smtClean="0"/>
              <a:t>05-06-2025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2D1EAD7-A8A8-439E-AE97-97D43FB6E979}" type="slidenum">
              <a:rPr lang="en-IN" smtClean="0"/>
              <a:t>‹#›</a:t>
            </a:fld>
            <a:endParaRPr lang="en-IN"/>
          </a:p>
        </p:txBody>
      </p:sp>
    </p:spTree>
    <p:extLst>
      <p:ext uri="{BB962C8B-B14F-4D97-AF65-F5344CB8AC3E}">
        <p14:creationId xmlns:p14="http://schemas.microsoft.com/office/powerpoint/2010/main" val="1284422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3024B8-89AF-4221-B1D9-198ADEFE3C47}" type="datetimeFigureOut">
              <a:rPr lang="en-IN" smtClean="0"/>
              <a:t>05-06-2025</a:t>
            </a:fld>
            <a:endParaRPr lang="en-I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D1EAD7-A8A8-439E-AE97-97D43FB6E979}" type="slidenum">
              <a:rPr lang="en-IN" smtClean="0"/>
              <a:t>‹#›</a:t>
            </a:fld>
            <a:endParaRPr lang="en-IN"/>
          </a:p>
        </p:txBody>
      </p:sp>
    </p:spTree>
    <p:extLst>
      <p:ext uri="{BB962C8B-B14F-4D97-AF65-F5344CB8AC3E}">
        <p14:creationId xmlns:p14="http://schemas.microsoft.com/office/powerpoint/2010/main" val="555473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simplilearn.com/top-python-libraries-for-data-science-articl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03C6F4E6-30A1-4F63-C8CC-028750B5AA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9147501" cy="4570886"/>
            <a:chOff x="0" y="0"/>
            <a:chExt cx="12196668" cy="4570886"/>
          </a:xfrm>
        </p:grpSpPr>
        <p:sp>
          <p:nvSpPr>
            <p:cNvPr id="20" name="Rectangle 19">
              <a:extLst>
                <a:ext uri="{FF2B5EF4-FFF2-40B4-BE49-F238E27FC236}">
                  <a16:creationId xmlns:a16="http://schemas.microsoft.com/office/drawing/2014/main" id="{49EA7CA8-3AE6-4F5F-9932-63303CF2D4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12196668" cy="4570632"/>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6E3E019-A259-1130-CC5C-3165020BC5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791"/>
              <a:ext cx="10565988" cy="4568095"/>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C0769F99-CCA6-5CDC-D1E1-C59A4762F1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
              <a:ext cx="12192000" cy="4549891"/>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C13E73D3-029B-3D4E-1956-8EE7068A6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10544" y="18215"/>
              <a:ext cx="8086124" cy="454988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8FA047F2-E2E2-7DAC-DFCD-7BF41798A3AC}"/>
              </a:ext>
            </a:extLst>
          </p:cNvPr>
          <p:cNvSpPr>
            <a:spLocks noGrp="1"/>
          </p:cNvSpPr>
          <p:nvPr>
            <p:ph type="ctrTitle"/>
          </p:nvPr>
        </p:nvSpPr>
        <p:spPr>
          <a:xfrm>
            <a:off x="844761" y="1124262"/>
            <a:ext cx="6013239" cy="2690413"/>
          </a:xfrm>
        </p:spPr>
        <p:txBody>
          <a:bodyPr anchor="t">
            <a:normAutofit/>
          </a:bodyPr>
          <a:lstStyle/>
          <a:p>
            <a:pPr algn="l"/>
            <a:r>
              <a:rPr lang="en-US" sz="4700">
                <a:solidFill>
                  <a:srgbClr val="FFFFFF"/>
                </a:solidFill>
              </a:rPr>
              <a:t>Data Visualization in Python</a:t>
            </a:r>
            <a:endParaRPr lang="en-IN" sz="4700">
              <a:solidFill>
                <a:srgbClr val="FFFFFF"/>
              </a:solidFill>
            </a:endParaRPr>
          </a:p>
        </p:txBody>
      </p:sp>
      <p:pic>
        <p:nvPicPr>
          <p:cNvPr id="5" name="Picture 4">
            <a:extLst>
              <a:ext uri="{FF2B5EF4-FFF2-40B4-BE49-F238E27FC236}">
                <a16:creationId xmlns:a16="http://schemas.microsoft.com/office/drawing/2014/main" id="{EC41D953-780A-3C47-600D-2373CA2CAA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7554" y="5523094"/>
            <a:ext cx="6269221" cy="767978"/>
          </a:xfrm>
          <a:prstGeom prst="rect">
            <a:avLst/>
          </a:prstGeom>
        </p:spPr>
      </p:pic>
    </p:spTree>
    <p:extLst>
      <p:ext uri="{BB962C8B-B14F-4D97-AF65-F5344CB8AC3E}">
        <p14:creationId xmlns:p14="http://schemas.microsoft.com/office/powerpoint/2010/main" val="2857148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D1E22-29B6-370F-0F78-01E774895743}"/>
              </a:ext>
            </a:extLst>
          </p:cNvPr>
          <p:cNvSpPr>
            <a:spLocks noGrp="1"/>
          </p:cNvSpPr>
          <p:nvPr>
            <p:ph type="title"/>
          </p:nvPr>
        </p:nvSpPr>
        <p:spPr/>
        <p:txBody>
          <a:bodyPr/>
          <a:lstStyle/>
          <a:p>
            <a:r>
              <a:rPr lang="en-US" dirty="0"/>
              <a:t>Data Visualization</a:t>
            </a:r>
            <a:endParaRPr lang="en-IN" dirty="0"/>
          </a:p>
        </p:txBody>
      </p:sp>
      <p:sp>
        <p:nvSpPr>
          <p:cNvPr id="3" name="Content Placeholder 2">
            <a:extLst>
              <a:ext uri="{FF2B5EF4-FFF2-40B4-BE49-F238E27FC236}">
                <a16:creationId xmlns:a16="http://schemas.microsoft.com/office/drawing/2014/main" id="{9A994D9F-69DE-0222-9836-A86F20D7223D}"/>
              </a:ext>
            </a:extLst>
          </p:cNvPr>
          <p:cNvSpPr>
            <a:spLocks noGrp="1"/>
          </p:cNvSpPr>
          <p:nvPr>
            <p:ph idx="1"/>
          </p:nvPr>
        </p:nvSpPr>
        <p:spPr/>
        <p:txBody>
          <a:bodyPr/>
          <a:lstStyle/>
          <a:p>
            <a:r>
              <a:rPr lang="en-US" b="0" i="0" dirty="0">
                <a:solidFill>
                  <a:srgbClr val="51565E"/>
                </a:solidFill>
                <a:effectLst/>
                <a:latin typeface="Roboto" panose="02000000000000000000" pitchFamily="2" charset="0"/>
              </a:rPr>
              <a:t>Data visualization is a field in </a:t>
            </a:r>
            <a:r>
              <a:rPr lang="en-US" b="0" i="0" u="none" strike="noStrike" dirty="0">
                <a:solidFill>
                  <a:srgbClr val="1179EF"/>
                </a:solidFill>
                <a:effectLst/>
                <a:latin typeface="Roboto" panose="02000000000000000000" pitchFamily="2" charset="0"/>
              </a:rPr>
              <a:t>data analysis</a:t>
            </a:r>
            <a:r>
              <a:rPr lang="en-US" b="0" i="0" dirty="0">
                <a:solidFill>
                  <a:srgbClr val="51565E"/>
                </a:solidFill>
                <a:effectLst/>
                <a:latin typeface="Roboto" panose="02000000000000000000" pitchFamily="2" charset="0"/>
              </a:rPr>
              <a:t> that deals with visual representation of data. It graphically plots data and is an effective way to communicate inferences from data.</a:t>
            </a:r>
          </a:p>
          <a:p>
            <a:r>
              <a:rPr lang="en-US" b="0" i="0" dirty="0">
                <a:solidFill>
                  <a:srgbClr val="51565E"/>
                </a:solidFill>
                <a:effectLst/>
                <a:latin typeface="Roboto" panose="02000000000000000000" pitchFamily="2" charset="0"/>
              </a:rPr>
              <a:t>visual summary of our data.</a:t>
            </a:r>
            <a:endParaRPr lang="en-US" dirty="0">
              <a:solidFill>
                <a:srgbClr val="51565E"/>
              </a:solidFill>
              <a:latin typeface="Roboto" panose="02000000000000000000" pitchFamily="2" charset="0"/>
            </a:endParaRPr>
          </a:p>
          <a:p>
            <a:r>
              <a:rPr lang="en-US" b="0" i="0" dirty="0">
                <a:solidFill>
                  <a:srgbClr val="51565E"/>
                </a:solidFill>
                <a:effectLst/>
                <a:latin typeface="Roboto" panose="02000000000000000000" pitchFamily="2" charset="0"/>
              </a:rPr>
              <a:t>With pictures, maps and graphs, the human mind has an easier time processing and understanding any given data.</a:t>
            </a:r>
          </a:p>
          <a:p>
            <a:r>
              <a:rPr lang="en-US" b="0" i="0" dirty="0">
                <a:solidFill>
                  <a:srgbClr val="51565E"/>
                </a:solidFill>
                <a:effectLst/>
                <a:latin typeface="Roboto" panose="02000000000000000000" pitchFamily="2" charset="0"/>
              </a:rPr>
              <a:t>significant role in the representation of both small and large data sets</a:t>
            </a:r>
            <a:endParaRPr lang="en-IN" dirty="0"/>
          </a:p>
        </p:txBody>
      </p:sp>
    </p:spTree>
    <p:extLst>
      <p:ext uri="{BB962C8B-B14F-4D97-AF65-F5344CB8AC3E}">
        <p14:creationId xmlns:p14="http://schemas.microsoft.com/office/powerpoint/2010/main" val="1442338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8448B-9410-953D-4569-10BB4BA3F2F0}"/>
              </a:ext>
            </a:extLst>
          </p:cNvPr>
          <p:cNvSpPr>
            <a:spLocks noGrp="1"/>
          </p:cNvSpPr>
          <p:nvPr>
            <p:ph type="title"/>
          </p:nvPr>
        </p:nvSpPr>
        <p:spPr/>
        <p:txBody>
          <a:bodyPr/>
          <a:lstStyle/>
          <a:p>
            <a:r>
              <a:rPr lang="en-US" dirty="0"/>
              <a:t>Data Visualization in Python</a:t>
            </a:r>
            <a:endParaRPr lang="en-IN" dirty="0"/>
          </a:p>
        </p:txBody>
      </p:sp>
      <p:sp>
        <p:nvSpPr>
          <p:cNvPr id="3" name="Content Placeholder 2">
            <a:extLst>
              <a:ext uri="{FF2B5EF4-FFF2-40B4-BE49-F238E27FC236}">
                <a16:creationId xmlns:a16="http://schemas.microsoft.com/office/drawing/2014/main" id="{E8B6C1D2-8F9D-87F1-BD2C-493D3C01A842}"/>
              </a:ext>
            </a:extLst>
          </p:cNvPr>
          <p:cNvSpPr>
            <a:spLocks noGrp="1"/>
          </p:cNvSpPr>
          <p:nvPr>
            <p:ph idx="1"/>
          </p:nvPr>
        </p:nvSpPr>
        <p:spPr>
          <a:xfrm>
            <a:off x="628650" y="1377696"/>
            <a:ext cx="7886700" cy="4799267"/>
          </a:xfrm>
        </p:spPr>
        <p:txBody>
          <a:bodyPr>
            <a:normAutofit fontScale="92500" lnSpcReduction="10000"/>
          </a:bodyPr>
          <a:lstStyle/>
          <a:p>
            <a:r>
              <a:rPr lang="en-US" dirty="0"/>
              <a:t>Python offers several plotting libraries, namely Matplotlib, Seaborn and many other such data visualization packages with different features for creating informative, customized, and appealing plots to present data in the most simple and effective way.</a:t>
            </a:r>
          </a:p>
          <a:p>
            <a:r>
              <a:rPr lang="en-US" dirty="0"/>
              <a:t>Python libraries for data visualization</a:t>
            </a:r>
          </a:p>
          <a:p>
            <a:pPr lvl="1"/>
            <a:r>
              <a:rPr lang="en-US" dirty="0"/>
              <a:t>Matplotlib</a:t>
            </a:r>
          </a:p>
          <a:p>
            <a:pPr lvl="1"/>
            <a:r>
              <a:rPr lang="en-US" dirty="0"/>
              <a:t>Seaborn</a:t>
            </a:r>
          </a:p>
          <a:p>
            <a:r>
              <a:rPr lang="en-US" b="0" i="0" dirty="0">
                <a:solidFill>
                  <a:srgbClr val="51565E"/>
                </a:solidFill>
                <a:effectLst/>
                <a:latin typeface="Roboto" panose="02000000000000000000" pitchFamily="2" charset="0"/>
              </a:rPr>
              <a:t>inbuilt modules for plotting different graph</a:t>
            </a:r>
          </a:p>
          <a:p>
            <a:r>
              <a:rPr lang="en-US" b="0" i="0" dirty="0">
                <a:solidFill>
                  <a:srgbClr val="51565E"/>
                </a:solidFill>
                <a:effectLst/>
                <a:latin typeface="Roboto" panose="02000000000000000000" pitchFamily="2" charset="0"/>
              </a:rPr>
              <a:t>While Matplotlib is used to embed graphs into applications, Seaborn is primarily used for statistical graphs.</a:t>
            </a:r>
            <a:endParaRPr lang="en-US" dirty="0"/>
          </a:p>
          <a:p>
            <a:endParaRPr lang="en-IN" dirty="0"/>
          </a:p>
        </p:txBody>
      </p:sp>
    </p:spTree>
    <p:extLst>
      <p:ext uri="{BB962C8B-B14F-4D97-AF65-F5344CB8AC3E}">
        <p14:creationId xmlns:p14="http://schemas.microsoft.com/office/powerpoint/2010/main" val="2437103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DD3A2-CFB9-E94A-150B-DAC94ABFE85B}"/>
              </a:ext>
            </a:extLst>
          </p:cNvPr>
          <p:cNvSpPr>
            <a:spLocks noGrp="1"/>
          </p:cNvSpPr>
          <p:nvPr>
            <p:ph type="title"/>
          </p:nvPr>
        </p:nvSpPr>
        <p:spPr>
          <a:xfrm>
            <a:off x="657519" y="741391"/>
            <a:ext cx="2591866" cy="1616203"/>
          </a:xfrm>
        </p:spPr>
        <p:txBody>
          <a:bodyPr anchor="b">
            <a:normAutofit/>
          </a:bodyPr>
          <a:lstStyle/>
          <a:p>
            <a:r>
              <a:rPr lang="en-US" sz="2800" dirty="0"/>
              <a:t>Using Matplotlib module</a:t>
            </a:r>
            <a:endParaRPr lang="en-IN" sz="2800" dirty="0"/>
          </a:p>
        </p:txBody>
      </p:sp>
      <p:sp>
        <p:nvSpPr>
          <p:cNvPr id="3" name="Content Placeholder 2">
            <a:extLst>
              <a:ext uri="{FF2B5EF4-FFF2-40B4-BE49-F238E27FC236}">
                <a16:creationId xmlns:a16="http://schemas.microsoft.com/office/drawing/2014/main" id="{186E8EE3-2C0E-11CF-1094-443750B0256D}"/>
              </a:ext>
            </a:extLst>
          </p:cNvPr>
          <p:cNvSpPr>
            <a:spLocks noGrp="1"/>
          </p:cNvSpPr>
          <p:nvPr>
            <p:ph idx="1"/>
          </p:nvPr>
        </p:nvSpPr>
        <p:spPr>
          <a:xfrm>
            <a:off x="657519" y="2533476"/>
            <a:ext cx="2591866" cy="3447832"/>
          </a:xfrm>
        </p:spPr>
        <p:txBody>
          <a:bodyPr anchor="t">
            <a:normAutofit/>
          </a:bodyPr>
          <a:lstStyle/>
          <a:p>
            <a:r>
              <a:rPr lang="en-US" sz="1700" dirty="0"/>
              <a:t>To import matplotlib module in the python program we need to follow the steps.</a:t>
            </a:r>
          </a:p>
          <a:p>
            <a:pPr lvl="1"/>
            <a:r>
              <a:rPr lang="en-US" sz="1700" dirty="0"/>
              <a:t>Install matplotlib through the command prompt using </a:t>
            </a:r>
            <a:r>
              <a:rPr lang="en-US" sz="1700" dirty="0">
                <a:solidFill>
                  <a:srgbClr val="FF0000"/>
                </a:solidFill>
              </a:rPr>
              <a:t>pip install </a:t>
            </a:r>
            <a:r>
              <a:rPr lang="en-US" sz="1700" dirty="0" err="1">
                <a:solidFill>
                  <a:srgbClr val="FF0000"/>
                </a:solidFill>
              </a:rPr>
              <a:t>mtplotlib</a:t>
            </a:r>
            <a:endParaRPr lang="en-IN" sz="1700" dirty="0">
              <a:solidFill>
                <a:srgbClr val="FF0000"/>
              </a:solidFill>
            </a:endParaRPr>
          </a:p>
        </p:txBody>
      </p:sp>
      <p:pic>
        <p:nvPicPr>
          <p:cNvPr id="5" name="Picture 4" descr="A computer screen shot of a program&#10;&#10;AI-generated content may be incorrect.">
            <a:extLst>
              <a:ext uri="{FF2B5EF4-FFF2-40B4-BE49-F238E27FC236}">
                <a16:creationId xmlns:a16="http://schemas.microsoft.com/office/drawing/2014/main" id="{B781D265-2C19-4A4D-D15A-EBCD057C9B47}"/>
              </a:ext>
            </a:extLst>
          </p:cNvPr>
          <p:cNvPicPr>
            <a:picLocks noChangeAspect="1"/>
          </p:cNvPicPr>
          <p:nvPr/>
        </p:nvPicPr>
        <p:blipFill>
          <a:blip r:embed="rId2"/>
          <a:stretch>
            <a:fillRect/>
          </a:stretch>
        </p:blipFill>
        <p:spPr>
          <a:xfrm>
            <a:off x="3740754" y="1972093"/>
            <a:ext cx="4792009" cy="2923124"/>
          </a:xfrm>
          <a:prstGeom prst="rect">
            <a:avLst/>
          </a:prstGeom>
        </p:spPr>
      </p:pic>
      <p:grpSp>
        <p:nvGrpSpPr>
          <p:cNvPr id="10" name="Group 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051478" y="0"/>
            <a:ext cx="92522" cy="6858000"/>
            <a:chOff x="12068638" y="0"/>
            <a:chExt cx="123362" cy="6858000"/>
          </a:xfrm>
        </p:grpSpPr>
        <p:sp>
          <p:nvSpPr>
            <p:cNvPr id="11" name="Rectangle 1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26617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538C1-151A-DBAC-8893-FACDA9778D5B}"/>
              </a:ext>
            </a:extLst>
          </p:cNvPr>
          <p:cNvSpPr>
            <a:spLocks noGrp="1"/>
          </p:cNvSpPr>
          <p:nvPr>
            <p:ph type="title"/>
          </p:nvPr>
        </p:nvSpPr>
        <p:spPr/>
        <p:txBody>
          <a:bodyPr/>
          <a:lstStyle/>
          <a:p>
            <a:r>
              <a:rPr lang="en-IN" b="0" i="0" dirty="0">
                <a:solidFill>
                  <a:srgbClr val="272C37"/>
                </a:solidFill>
                <a:effectLst/>
                <a:latin typeface="Roboto" panose="02000000000000000000" pitchFamily="2" charset="0"/>
              </a:rPr>
              <a:t>Matplotlib and Seaborn</a:t>
            </a:r>
            <a:br>
              <a:rPr lang="en-IN" b="0" i="0" dirty="0">
                <a:solidFill>
                  <a:srgbClr val="272C37"/>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4EB08ADA-9E0C-B701-FACB-D3EBDB92DB81}"/>
              </a:ext>
            </a:extLst>
          </p:cNvPr>
          <p:cNvSpPr>
            <a:spLocks noGrp="1"/>
          </p:cNvSpPr>
          <p:nvPr>
            <p:ph idx="1"/>
          </p:nvPr>
        </p:nvSpPr>
        <p:spPr/>
        <p:txBody>
          <a:bodyPr/>
          <a:lstStyle/>
          <a:p>
            <a:r>
              <a:rPr lang="en-US" b="0" i="0" dirty="0">
                <a:solidFill>
                  <a:srgbClr val="51565E"/>
                </a:solidFill>
                <a:effectLst/>
                <a:latin typeface="Roboto" panose="02000000000000000000" pitchFamily="2" charset="0"/>
              </a:rPr>
              <a:t>Matplotlib and Seaborn are </a:t>
            </a:r>
            <a:r>
              <a:rPr lang="en-US" b="0" i="0" u="none" strike="noStrike" dirty="0">
                <a:solidFill>
                  <a:srgbClr val="1179EF"/>
                </a:solidFill>
                <a:effectLst/>
                <a:latin typeface="Roboto" panose="02000000000000000000" pitchFamily="2" charset="0"/>
                <a:hlinkClick r:id="rId2" tooltip="python libraries"/>
              </a:rPr>
              <a:t>python libraries</a:t>
            </a:r>
            <a:r>
              <a:rPr lang="en-US" b="0" i="0" dirty="0">
                <a:solidFill>
                  <a:srgbClr val="51565E"/>
                </a:solidFill>
                <a:effectLst/>
                <a:latin typeface="Roboto" panose="02000000000000000000" pitchFamily="2" charset="0"/>
              </a:rPr>
              <a:t> that are used for data visualization. They have inbuilt modules for plotting different graphs. </a:t>
            </a:r>
          </a:p>
          <a:p>
            <a:r>
              <a:rPr lang="en-US" b="0" i="0" dirty="0">
                <a:solidFill>
                  <a:srgbClr val="51565E"/>
                </a:solidFill>
                <a:effectLst/>
                <a:latin typeface="Roboto" panose="02000000000000000000" pitchFamily="2" charset="0"/>
              </a:rPr>
              <a:t>While Matplotlib is used to embed graphs into applications, Seaborn is primarily used for statistical graphs.</a:t>
            </a:r>
            <a:endParaRPr lang="en-IN" dirty="0"/>
          </a:p>
        </p:txBody>
      </p:sp>
    </p:spTree>
    <p:extLst>
      <p:ext uri="{BB962C8B-B14F-4D97-AF65-F5344CB8AC3E}">
        <p14:creationId xmlns:p14="http://schemas.microsoft.com/office/powerpoint/2010/main" val="652049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5C15F-237A-32D3-E934-44B8D282A723}"/>
              </a:ext>
            </a:extLst>
          </p:cNvPr>
          <p:cNvSpPr>
            <a:spLocks noGrp="1"/>
          </p:cNvSpPr>
          <p:nvPr>
            <p:ph type="title"/>
          </p:nvPr>
        </p:nvSpPr>
        <p:spPr/>
        <p:txBody>
          <a:bodyPr/>
          <a:lstStyle/>
          <a:p>
            <a:r>
              <a:rPr lang="en-US" dirty="0"/>
              <a:t>Matplotlib vs Seaborn</a:t>
            </a:r>
            <a:endParaRPr lang="en-IN" dirty="0"/>
          </a:p>
        </p:txBody>
      </p:sp>
      <p:graphicFrame>
        <p:nvGraphicFramePr>
          <p:cNvPr id="4" name="Content Placeholder 3">
            <a:extLst>
              <a:ext uri="{FF2B5EF4-FFF2-40B4-BE49-F238E27FC236}">
                <a16:creationId xmlns:a16="http://schemas.microsoft.com/office/drawing/2014/main" id="{8E0EC07F-AC1A-899D-CD86-99EFAF04047D}"/>
              </a:ext>
            </a:extLst>
          </p:cNvPr>
          <p:cNvGraphicFramePr>
            <a:graphicFrameLocks noGrp="1"/>
          </p:cNvGraphicFramePr>
          <p:nvPr>
            <p:ph idx="1"/>
            <p:extLst>
              <p:ext uri="{D42A27DB-BD31-4B8C-83A1-F6EECF244321}">
                <p14:modId xmlns:p14="http://schemas.microsoft.com/office/powerpoint/2010/main" val="1892016818"/>
              </p:ext>
            </p:extLst>
          </p:nvPr>
        </p:nvGraphicFramePr>
        <p:xfrm>
          <a:off x="628650" y="1825624"/>
          <a:ext cx="7886700" cy="4667250"/>
        </p:xfrm>
        <a:graphic>
          <a:graphicData uri="http://schemas.openxmlformats.org/drawingml/2006/table">
            <a:tbl>
              <a:tblPr firstRow="1" bandRow="1">
                <a:tableStyleId>{5C22544A-7EE6-4342-B048-85BDC9FD1C3A}</a:tableStyleId>
              </a:tblPr>
              <a:tblGrid>
                <a:gridCol w="3943350">
                  <a:extLst>
                    <a:ext uri="{9D8B030D-6E8A-4147-A177-3AD203B41FA5}">
                      <a16:colId xmlns:a16="http://schemas.microsoft.com/office/drawing/2014/main" val="1861838551"/>
                    </a:ext>
                  </a:extLst>
                </a:gridCol>
                <a:gridCol w="3943350">
                  <a:extLst>
                    <a:ext uri="{9D8B030D-6E8A-4147-A177-3AD203B41FA5}">
                      <a16:colId xmlns:a16="http://schemas.microsoft.com/office/drawing/2014/main" val="2532885242"/>
                    </a:ext>
                  </a:extLst>
                </a:gridCol>
              </a:tblGrid>
              <a:tr h="7278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lt1"/>
                          </a:solidFill>
                          <a:effectLst/>
                          <a:latin typeface="+mn-lt"/>
                          <a:ea typeface="+mn-ea"/>
                          <a:cs typeface="+mn-cs"/>
                        </a:rPr>
                        <a:t>Matplotlib</a:t>
                      </a:r>
                    </a:p>
                    <a:p>
                      <a:endParaRPr lang="en-IN" dirty="0"/>
                    </a:p>
                  </a:txBody>
                  <a:tcPr/>
                </a:tc>
                <a:tc>
                  <a:txBody>
                    <a:bodyPr/>
                    <a:lstStyle/>
                    <a:p>
                      <a:r>
                        <a:rPr lang="en-US" dirty="0"/>
                        <a:t>Seaborn</a:t>
                      </a:r>
                      <a:endParaRPr lang="en-IN" dirty="0"/>
                    </a:p>
                  </a:txBody>
                  <a:tcPr/>
                </a:tc>
                <a:extLst>
                  <a:ext uri="{0D108BD9-81ED-4DB2-BD59-A6C34878D82A}">
                    <a16:rowId xmlns:a16="http://schemas.microsoft.com/office/drawing/2014/main" val="2163613799"/>
                  </a:ext>
                </a:extLst>
              </a:tr>
              <a:tr h="1351654">
                <a:tc>
                  <a:txBody>
                    <a:bodyPr/>
                    <a:lstStyle/>
                    <a:p>
                      <a:r>
                        <a:rPr lang="en-US" sz="1800" b="0" i="0" kern="1200" dirty="0">
                          <a:solidFill>
                            <a:schemeClr val="dk1"/>
                          </a:solidFill>
                          <a:effectLst/>
                          <a:latin typeface="+mn-lt"/>
                          <a:ea typeface="+mn-ea"/>
                          <a:cs typeface="+mn-cs"/>
                        </a:rPr>
                        <a:t>It is used for basic graph plotting like line charts,  bar graphs, etc.</a:t>
                      </a:r>
                      <a:endParaRPr lang="en-IN" dirty="0"/>
                    </a:p>
                  </a:txBody>
                  <a:tcPr/>
                </a:tc>
                <a:tc>
                  <a:txBody>
                    <a:bodyPr/>
                    <a:lstStyle/>
                    <a:p>
                      <a:r>
                        <a:rPr lang="en-US" sz="1800" b="0" i="0" kern="1200" dirty="0">
                          <a:solidFill>
                            <a:schemeClr val="dk1"/>
                          </a:solidFill>
                          <a:effectLst/>
                          <a:latin typeface="+mn-lt"/>
                          <a:ea typeface="+mn-ea"/>
                          <a:cs typeface="+mn-cs"/>
                        </a:rPr>
                        <a:t>It is mainly used for statistics visualization and can perform complex visualizations with fewer commands.</a:t>
                      </a:r>
                      <a:endParaRPr lang="en-IN" dirty="0"/>
                    </a:p>
                  </a:txBody>
                  <a:tcPr/>
                </a:tc>
                <a:extLst>
                  <a:ext uri="{0D108BD9-81ED-4DB2-BD59-A6C34878D82A}">
                    <a16:rowId xmlns:a16="http://schemas.microsoft.com/office/drawing/2014/main" val="3655087044"/>
                  </a:ext>
                </a:extLst>
              </a:tr>
              <a:tr h="924208">
                <a:tc>
                  <a:txBody>
                    <a:bodyPr/>
                    <a:lstStyle/>
                    <a:p>
                      <a:pPr algn="ctr">
                        <a:lnSpc>
                          <a:spcPts val="1950"/>
                        </a:lnSpc>
                        <a:spcBef>
                          <a:spcPts val="1800"/>
                        </a:spcBef>
                        <a:spcAft>
                          <a:spcPts val="1950"/>
                        </a:spcAft>
                        <a:buNone/>
                      </a:pPr>
                      <a:r>
                        <a:rPr lang="en-US" b="0" i="0" dirty="0">
                          <a:solidFill>
                            <a:srgbClr val="51565E"/>
                          </a:solidFill>
                          <a:effectLst/>
                          <a:latin typeface="Roboto" panose="02000000000000000000" pitchFamily="2" charset="0"/>
                        </a:rPr>
                        <a:t>It mainly works with datasets and arrays.</a:t>
                      </a:r>
                    </a:p>
                  </a:txBody>
                  <a:tcPr marL="114300" marR="114300" marT="152400" marB="152400" anchor="ctr"/>
                </a:tc>
                <a:tc>
                  <a:txBody>
                    <a:bodyPr/>
                    <a:lstStyle/>
                    <a:p>
                      <a:pPr algn="ctr">
                        <a:lnSpc>
                          <a:spcPts val="1800"/>
                        </a:lnSpc>
                      </a:pPr>
                      <a:r>
                        <a:rPr lang="en-US" sz="1800" b="0" i="0" kern="1200" dirty="0">
                          <a:solidFill>
                            <a:schemeClr val="dk1"/>
                          </a:solidFill>
                          <a:effectLst/>
                          <a:latin typeface="+mn-lt"/>
                          <a:ea typeface="+mn-ea"/>
                          <a:cs typeface="+mn-cs"/>
                        </a:rPr>
                        <a:t>It works with entire datasets.</a:t>
                      </a:r>
                      <a:endParaRPr lang="en-IN" b="0" i="0" dirty="0">
                        <a:solidFill>
                          <a:srgbClr val="51565E"/>
                        </a:solidFill>
                        <a:effectLst/>
                        <a:latin typeface="Roboto" panose="02000000000000000000" pitchFamily="2" charset="0"/>
                      </a:endParaRPr>
                    </a:p>
                  </a:txBody>
                  <a:tcPr marL="114300" marR="114300" marT="152400" marB="152400" anchor="ctr"/>
                </a:tc>
                <a:extLst>
                  <a:ext uri="{0D108BD9-81ED-4DB2-BD59-A6C34878D82A}">
                    <a16:rowId xmlns:a16="http://schemas.microsoft.com/office/drawing/2014/main" val="3167743507"/>
                  </a:ext>
                </a:extLst>
              </a:tr>
              <a:tr h="16635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Matplotlib acts productively with data arrays and frames. It regards the aces and figures as objects.</a:t>
                      </a:r>
                      <a:endParaRPr lang="en-IN" dirty="0"/>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Seaborn is considerably more organized and functional than Matplotlib and treats the entire dataset as a solitary unit.</a:t>
                      </a:r>
                      <a:endParaRPr lang="en-IN" dirty="0"/>
                    </a:p>
                    <a:p>
                      <a:endParaRPr lang="en-IN" dirty="0"/>
                    </a:p>
                  </a:txBody>
                  <a:tcPr/>
                </a:tc>
                <a:extLst>
                  <a:ext uri="{0D108BD9-81ED-4DB2-BD59-A6C34878D82A}">
                    <a16:rowId xmlns:a16="http://schemas.microsoft.com/office/drawing/2014/main" val="2448993709"/>
                  </a:ext>
                </a:extLst>
              </a:tr>
            </a:tbl>
          </a:graphicData>
        </a:graphic>
      </p:graphicFrame>
    </p:spTree>
    <p:extLst>
      <p:ext uri="{BB962C8B-B14F-4D97-AF65-F5344CB8AC3E}">
        <p14:creationId xmlns:p14="http://schemas.microsoft.com/office/powerpoint/2010/main" val="889296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30A7B-5C92-8B3F-D4F9-863C9EE3AEEA}"/>
              </a:ext>
            </a:extLst>
          </p:cNvPr>
          <p:cNvSpPr>
            <a:spLocks noGrp="1"/>
          </p:cNvSpPr>
          <p:nvPr>
            <p:ph type="title"/>
          </p:nvPr>
        </p:nvSpPr>
        <p:spPr/>
        <p:txBody>
          <a:bodyPr/>
          <a:lstStyle/>
          <a:p>
            <a:r>
              <a:rPr lang="en-US" dirty="0"/>
              <a:t>A Line Chart</a:t>
            </a:r>
            <a:endParaRPr lang="en-IN" dirty="0"/>
          </a:p>
        </p:txBody>
      </p:sp>
      <p:sp>
        <p:nvSpPr>
          <p:cNvPr id="3" name="Content Placeholder 2">
            <a:extLst>
              <a:ext uri="{FF2B5EF4-FFF2-40B4-BE49-F238E27FC236}">
                <a16:creationId xmlns:a16="http://schemas.microsoft.com/office/drawing/2014/main" id="{A8CEB7B4-D758-B6EB-FD1D-6E5D0E6CDDD3}"/>
              </a:ext>
            </a:extLst>
          </p:cNvPr>
          <p:cNvSpPr>
            <a:spLocks noGrp="1"/>
          </p:cNvSpPr>
          <p:nvPr>
            <p:ph idx="1"/>
          </p:nvPr>
        </p:nvSpPr>
        <p:spPr/>
        <p:txBody>
          <a:bodyPr/>
          <a:lstStyle/>
          <a:p>
            <a:r>
              <a:rPr lang="en-US" b="0" i="0" dirty="0">
                <a:solidFill>
                  <a:srgbClr val="51565E"/>
                </a:solidFill>
                <a:effectLst/>
                <a:latin typeface="Roboto" panose="02000000000000000000" pitchFamily="2" charset="0"/>
              </a:rPr>
              <a:t>A Line chart is a graph that represents information as a series of data points connected by a straight line. In line charts, each data point or marker is plotted and connected with a line or curve.</a:t>
            </a:r>
            <a:endParaRPr lang="en-IN" dirty="0"/>
          </a:p>
        </p:txBody>
      </p:sp>
    </p:spTree>
    <p:extLst>
      <p:ext uri="{BB962C8B-B14F-4D97-AF65-F5344CB8AC3E}">
        <p14:creationId xmlns:p14="http://schemas.microsoft.com/office/powerpoint/2010/main" val="944960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A316ACA-288C-3FBF-C86E-F9747E4750EE}"/>
              </a:ext>
            </a:extLst>
          </p:cNvPr>
          <p:cNvPicPr>
            <a:picLocks noChangeAspect="1"/>
          </p:cNvPicPr>
          <p:nvPr/>
        </p:nvPicPr>
        <p:blipFill>
          <a:blip r:embed="rId2"/>
          <a:stretch>
            <a:fillRect/>
          </a:stretch>
        </p:blipFill>
        <p:spPr>
          <a:xfrm>
            <a:off x="528637" y="976312"/>
            <a:ext cx="8086725" cy="4905375"/>
          </a:xfrm>
          <a:prstGeom prst="rect">
            <a:avLst/>
          </a:prstGeom>
        </p:spPr>
      </p:pic>
      <p:sp>
        <p:nvSpPr>
          <p:cNvPr id="6" name="TextBox 5">
            <a:extLst>
              <a:ext uri="{FF2B5EF4-FFF2-40B4-BE49-F238E27FC236}">
                <a16:creationId xmlns:a16="http://schemas.microsoft.com/office/drawing/2014/main" id="{92B9DC54-FB44-DCE5-437A-2312C8BF87B9}"/>
              </a:ext>
            </a:extLst>
          </p:cNvPr>
          <p:cNvSpPr txBox="1"/>
          <p:nvPr/>
        </p:nvSpPr>
        <p:spPr>
          <a:xfrm>
            <a:off x="1865376" y="6132576"/>
            <a:ext cx="4279392" cy="369332"/>
          </a:xfrm>
          <a:prstGeom prst="rect">
            <a:avLst/>
          </a:prstGeom>
          <a:noFill/>
        </p:spPr>
        <p:txBody>
          <a:bodyPr wrap="square" rtlCol="0">
            <a:spAutoFit/>
          </a:bodyPr>
          <a:lstStyle/>
          <a:p>
            <a:r>
              <a:rPr lang="en-US" dirty="0"/>
              <a:t>A Line Plot</a:t>
            </a:r>
            <a:endParaRPr lang="en-IN" dirty="0"/>
          </a:p>
        </p:txBody>
      </p:sp>
    </p:spTree>
    <p:extLst>
      <p:ext uri="{BB962C8B-B14F-4D97-AF65-F5344CB8AC3E}">
        <p14:creationId xmlns:p14="http://schemas.microsoft.com/office/powerpoint/2010/main" val="4067258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A1A47E-00EE-AC6B-F125-4D7B57923BCA}"/>
              </a:ext>
            </a:extLst>
          </p:cNvPr>
          <p:cNvPicPr>
            <a:picLocks noChangeAspect="1"/>
          </p:cNvPicPr>
          <p:nvPr/>
        </p:nvPicPr>
        <p:blipFill>
          <a:blip r:embed="rId2"/>
          <a:stretch>
            <a:fillRect/>
          </a:stretch>
        </p:blipFill>
        <p:spPr>
          <a:xfrm>
            <a:off x="1500187" y="1004887"/>
            <a:ext cx="6143625" cy="4848225"/>
          </a:xfrm>
          <a:prstGeom prst="rect">
            <a:avLst/>
          </a:prstGeom>
        </p:spPr>
      </p:pic>
    </p:spTree>
    <p:extLst>
      <p:ext uri="{BB962C8B-B14F-4D97-AF65-F5344CB8AC3E}">
        <p14:creationId xmlns:p14="http://schemas.microsoft.com/office/powerpoint/2010/main" val="2338324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BD4CAF-7A81-7FE7-3FFD-DBC7622A7114}"/>
              </a:ext>
            </a:extLst>
          </p:cNvPr>
          <p:cNvPicPr>
            <a:picLocks noChangeAspect="1"/>
          </p:cNvPicPr>
          <p:nvPr/>
        </p:nvPicPr>
        <p:blipFill>
          <a:blip r:embed="rId2"/>
          <a:stretch>
            <a:fillRect/>
          </a:stretch>
        </p:blipFill>
        <p:spPr>
          <a:xfrm>
            <a:off x="1509712" y="981075"/>
            <a:ext cx="6124575" cy="4895850"/>
          </a:xfrm>
          <a:prstGeom prst="rect">
            <a:avLst/>
          </a:prstGeom>
        </p:spPr>
      </p:pic>
    </p:spTree>
    <p:extLst>
      <p:ext uri="{BB962C8B-B14F-4D97-AF65-F5344CB8AC3E}">
        <p14:creationId xmlns:p14="http://schemas.microsoft.com/office/powerpoint/2010/main" val="293794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A49008-0A28-BB21-DAB5-C98B544147E5}"/>
              </a:ext>
            </a:extLst>
          </p:cNvPr>
          <p:cNvPicPr>
            <a:picLocks noChangeAspect="1"/>
          </p:cNvPicPr>
          <p:nvPr/>
        </p:nvPicPr>
        <p:blipFill>
          <a:blip r:embed="rId2"/>
          <a:stretch>
            <a:fillRect/>
          </a:stretch>
        </p:blipFill>
        <p:spPr>
          <a:xfrm>
            <a:off x="1509712" y="976312"/>
            <a:ext cx="6124575" cy="4905375"/>
          </a:xfrm>
          <a:prstGeom prst="rect">
            <a:avLst/>
          </a:prstGeom>
        </p:spPr>
      </p:pic>
    </p:spTree>
    <p:extLst>
      <p:ext uri="{BB962C8B-B14F-4D97-AF65-F5344CB8AC3E}">
        <p14:creationId xmlns:p14="http://schemas.microsoft.com/office/powerpoint/2010/main" val="3792971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D354B5C-D992-BDC2-7893-FE5A544DC61A}"/>
              </a:ext>
            </a:extLst>
          </p:cNvPr>
          <p:cNvPicPr>
            <a:picLocks noChangeAspect="1"/>
          </p:cNvPicPr>
          <p:nvPr/>
        </p:nvPicPr>
        <p:blipFill>
          <a:blip r:embed="rId2"/>
          <a:stretch>
            <a:fillRect/>
          </a:stretch>
        </p:blipFill>
        <p:spPr>
          <a:xfrm>
            <a:off x="333375" y="371475"/>
            <a:ext cx="8477250" cy="6115050"/>
          </a:xfrm>
          <a:prstGeom prst="rect">
            <a:avLst/>
          </a:prstGeom>
        </p:spPr>
      </p:pic>
    </p:spTree>
    <p:extLst>
      <p:ext uri="{BB962C8B-B14F-4D97-AF65-F5344CB8AC3E}">
        <p14:creationId xmlns:p14="http://schemas.microsoft.com/office/powerpoint/2010/main" val="383480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AF58D6-43B3-5BBE-F9C7-7A2399B4606B}"/>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a:solidFill>
                  <a:schemeClr val="bg1"/>
                </a:solidFill>
                <a:latin typeface="+mj-lt"/>
                <a:ea typeface="+mj-ea"/>
                <a:cs typeface="+mj-cs"/>
              </a:rPr>
              <a:t>Output</a:t>
            </a:r>
          </a:p>
        </p:txBody>
      </p:sp>
      <p:pic>
        <p:nvPicPr>
          <p:cNvPr id="5" name="Content Placeholder 4">
            <a:extLst>
              <a:ext uri="{FF2B5EF4-FFF2-40B4-BE49-F238E27FC236}">
                <a16:creationId xmlns:a16="http://schemas.microsoft.com/office/drawing/2014/main" id="{868E750C-E2FC-B2E0-C335-C7F04B08454D}"/>
              </a:ext>
            </a:extLst>
          </p:cNvPr>
          <p:cNvPicPr>
            <a:picLocks noGrp="1" noChangeAspect="1"/>
          </p:cNvPicPr>
          <p:nvPr>
            <p:ph idx="1"/>
          </p:nvPr>
        </p:nvPicPr>
        <p:blipFill>
          <a:blip r:embed="rId2"/>
          <a:stretch>
            <a:fillRect/>
          </a:stretch>
        </p:blipFill>
        <p:spPr>
          <a:xfrm>
            <a:off x="1834181" y="1675227"/>
            <a:ext cx="5475637" cy="4394199"/>
          </a:xfrm>
          <a:prstGeom prst="rect">
            <a:avLst/>
          </a:prstGeom>
        </p:spPr>
      </p:pic>
    </p:spTree>
    <p:extLst>
      <p:ext uri="{BB962C8B-B14F-4D97-AF65-F5344CB8AC3E}">
        <p14:creationId xmlns:p14="http://schemas.microsoft.com/office/powerpoint/2010/main" val="1317489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88F89-B309-DBFB-2EE9-9DA3A8EEDF42}"/>
              </a:ext>
            </a:extLst>
          </p:cNvPr>
          <p:cNvSpPr>
            <a:spLocks noGrp="1"/>
          </p:cNvSpPr>
          <p:nvPr>
            <p:ph type="title"/>
          </p:nvPr>
        </p:nvSpPr>
        <p:spPr/>
        <p:txBody>
          <a:bodyPr/>
          <a:lstStyle/>
          <a:p>
            <a:r>
              <a:rPr lang="en-US" dirty="0"/>
              <a:t>Bar Graphs</a:t>
            </a:r>
            <a:endParaRPr lang="en-IN" dirty="0"/>
          </a:p>
        </p:txBody>
      </p:sp>
      <p:sp>
        <p:nvSpPr>
          <p:cNvPr id="3" name="Content Placeholder 2">
            <a:extLst>
              <a:ext uri="{FF2B5EF4-FFF2-40B4-BE49-F238E27FC236}">
                <a16:creationId xmlns:a16="http://schemas.microsoft.com/office/drawing/2014/main" id="{D2D4FCD6-5B0C-8EF8-3B49-96934644A890}"/>
              </a:ext>
            </a:extLst>
          </p:cNvPr>
          <p:cNvSpPr>
            <a:spLocks noGrp="1"/>
          </p:cNvSpPr>
          <p:nvPr>
            <p:ph idx="1"/>
          </p:nvPr>
        </p:nvSpPr>
        <p:spPr/>
        <p:txBody>
          <a:bodyPr/>
          <a:lstStyle/>
          <a:p>
            <a:r>
              <a:rPr lang="en-US" dirty="0"/>
              <a:t>A bar graph plots data with the help of bars, which represent value on the y-axis and category on the x-axis. Bar graphs use bars with varying heights to show the data which belongs to a specific category.</a:t>
            </a:r>
          </a:p>
          <a:p>
            <a:endParaRPr lang="en-US" dirty="0"/>
          </a:p>
          <a:p>
            <a:endParaRPr lang="en-IN" dirty="0"/>
          </a:p>
        </p:txBody>
      </p:sp>
    </p:spTree>
    <p:extLst>
      <p:ext uri="{BB962C8B-B14F-4D97-AF65-F5344CB8AC3E}">
        <p14:creationId xmlns:p14="http://schemas.microsoft.com/office/powerpoint/2010/main" val="3816230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0AE963-ADB9-CF69-00D9-CEA2DDCC83F8}"/>
              </a:ext>
            </a:extLst>
          </p:cNvPr>
          <p:cNvSpPr>
            <a:spLocks noGrp="1"/>
          </p:cNvSpPr>
          <p:nvPr>
            <p:ph type="title"/>
          </p:nvPr>
        </p:nvSpPr>
        <p:spPr>
          <a:xfrm>
            <a:off x="771525" y="1967266"/>
            <a:ext cx="1971675" cy="2547257"/>
          </a:xfrm>
          <a:noFill/>
        </p:spPr>
        <p:txBody>
          <a:bodyPr vert="horz" lIns="91440" tIns="45720" rIns="91440" bIns="45720" rtlCol="0" anchor="ctr">
            <a:normAutofit/>
          </a:bodyPr>
          <a:lstStyle/>
          <a:p>
            <a:pPr algn="ctr"/>
            <a:r>
              <a:rPr lang="en-US" sz="3100" kern="1200">
                <a:solidFill>
                  <a:srgbClr val="FFFFFF"/>
                </a:solidFill>
                <a:latin typeface="+mj-lt"/>
                <a:ea typeface="+mj-ea"/>
                <a:cs typeface="+mj-cs"/>
              </a:rPr>
              <a:t>Bar Graph</a:t>
            </a:r>
          </a:p>
        </p:txBody>
      </p:sp>
      <p:pic>
        <p:nvPicPr>
          <p:cNvPr id="5" name="Content Placeholder 4">
            <a:extLst>
              <a:ext uri="{FF2B5EF4-FFF2-40B4-BE49-F238E27FC236}">
                <a16:creationId xmlns:a16="http://schemas.microsoft.com/office/drawing/2014/main" id="{71E380A1-628F-79E9-6680-FF3F0B1EA180}"/>
              </a:ext>
            </a:extLst>
          </p:cNvPr>
          <p:cNvPicPr>
            <a:picLocks noGrp="1" noChangeAspect="1"/>
          </p:cNvPicPr>
          <p:nvPr>
            <p:ph idx="1"/>
          </p:nvPr>
        </p:nvPicPr>
        <p:blipFill>
          <a:blip r:embed="rId2"/>
          <a:stretch>
            <a:fillRect/>
          </a:stretch>
        </p:blipFill>
        <p:spPr>
          <a:xfrm>
            <a:off x="3164314" y="1228346"/>
            <a:ext cx="5514589" cy="4770118"/>
          </a:xfrm>
          <a:prstGeom prst="rect">
            <a:avLst/>
          </a:prstGeom>
        </p:spPr>
      </p:pic>
    </p:spTree>
    <p:extLst>
      <p:ext uri="{BB962C8B-B14F-4D97-AF65-F5344CB8AC3E}">
        <p14:creationId xmlns:p14="http://schemas.microsoft.com/office/powerpoint/2010/main" val="2548741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5B11F5-19D9-9439-4B0A-B00661DD007E}"/>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a:solidFill>
                  <a:schemeClr val="bg1"/>
                </a:solidFill>
                <a:latin typeface="+mj-lt"/>
                <a:ea typeface="+mj-ea"/>
                <a:cs typeface="+mj-cs"/>
              </a:rPr>
              <a:t>Output</a:t>
            </a:r>
          </a:p>
        </p:txBody>
      </p:sp>
      <p:pic>
        <p:nvPicPr>
          <p:cNvPr id="5" name="Content Placeholder 4">
            <a:extLst>
              <a:ext uri="{FF2B5EF4-FFF2-40B4-BE49-F238E27FC236}">
                <a16:creationId xmlns:a16="http://schemas.microsoft.com/office/drawing/2014/main" id="{CB2BFE10-9C68-01DC-78F5-00034B8CADE1}"/>
              </a:ext>
            </a:extLst>
          </p:cNvPr>
          <p:cNvPicPr>
            <a:picLocks noGrp="1" noChangeAspect="1"/>
          </p:cNvPicPr>
          <p:nvPr>
            <p:ph idx="1"/>
          </p:nvPr>
        </p:nvPicPr>
        <p:blipFill>
          <a:blip r:embed="rId2"/>
          <a:stretch>
            <a:fillRect/>
          </a:stretch>
        </p:blipFill>
        <p:spPr>
          <a:xfrm>
            <a:off x="1799634" y="1675227"/>
            <a:ext cx="5544731" cy="4394199"/>
          </a:xfrm>
          <a:prstGeom prst="rect">
            <a:avLst/>
          </a:prstGeom>
        </p:spPr>
      </p:pic>
    </p:spTree>
    <p:extLst>
      <p:ext uri="{BB962C8B-B14F-4D97-AF65-F5344CB8AC3E}">
        <p14:creationId xmlns:p14="http://schemas.microsoft.com/office/powerpoint/2010/main" val="2357154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CA1FB122-D457-DBBF-421D-6B8B01F26BF8}"/>
              </a:ext>
            </a:extLst>
          </p:cNvPr>
          <p:cNvPicPr>
            <a:picLocks noChangeAspect="1"/>
          </p:cNvPicPr>
          <p:nvPr/>
        </p:nvPicPr>
        <p:blipFill>
          <a:blip r:embed="rId2"/>
          <a:srcRect t="6267"/>
          <a:stretch/>
        </p:blipFill>
        <p:spPr>
          <a:xfrm>
            <a:off x="20" y="1282"/>
            <a:ext cx="9143980" cy="6856718"/>
          </a:xfrm>
          <a:prstGeom prst="rect">
            <a:avLst/>
          </a:prstGeom>
        </p:spPr>
      </p:pic>
    </p:spTree>
    <p:extLst>
      <p:ext uri="{BB962C8B-B14F-4D97-AF65-F5344CB8AC3E}">
        <p14:creationId xmlns:p14="http://schemas.microsoft.com/office/powerpoint/2010/main" val="28386927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518D50-8536-6632-1B28-13A8FF76A25B}"/>
              </a:ext>
            </a:extLst>
          </p:cNvPr>
          <p:cNvPicPr>
            <a:picLocks noChangeAspect="1"/>
          </p:cNvPicPr>
          <p:nvPr/>
        </p:nvPicPr>
        <p:blipFill>
          <a:blip r:embed="rId2"/>
          <a:stretch>
            <a:fillRect/>
          </a:stretch>
        </p:blipFill>
        <p:spPr>
          <a:xfrm>
            <a:off x="1519237" y="976312"/>
            <a:ext cx="6105525" cy="4905375"/>
          </a:xfrm>
          <a:prstGeom prst="rect">
            <a:avLst/>
          </a:prstGeom>
        </p:spPr>
      </p:pic>
    </p:spTree>
    <p:extLst>
      <p:ext uri="{BB962C8B-B14F-4D97-AF65-F5344CB8AC3E}">
        <p14:creationId xmlns:p14="http://schemas.microsoft.com/office/powerpoint/2010/main" val="2886581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C403B-D71A-7D0C-0B13-E8D394B9FCC3}"/>
              </a:ext>
            </a:extLst>
          </p:cNvPr>
          <p:cNvSpPr>
            <a:spLocks noGrp="1"/>
          </p:cNvSpPr>
          <p:nvPr>
            <p:ph type="title"/>
          </p:nvPr>
        </p:nvSpPr>
        <p:spPr/>
        <p:txBody>
          <a:bodyPr/>
          <a:lstStyle/>
          <a:p>
            <a:r>
              <a:rPr lang="en-US" dirty="0"/>
              <a:t>Histogram</a:t>
            </a:r>
            <a:endParaRPr lang="en-IN" dirty="0"/>
          </a:p>
        </p:txBody>
      </p:sp>
      <p:sp>
        <p:nvSpPr>
          <p:cNvPr id="3" name="Content Placeholder 2">
            <a:extLst>
              <a:ext uri="{FF2B5EF4-FFF2-40B4-BE49-F238E27FC236}">
                <a16:creationId xmlns:a16="http://schemas.microsoft.com/office/drawing/2014/main" id="{172F27BA-036D-010C-A09D-6D0DC3A353A2}"/>
              </a:ext>
            </a:extLst>
          </p:cNvPr>
          <p:cNvSpPr>
            <a:spLocks noGrp="1"/>
          </p:cNvSpPr>
          <p:nvPr>
            <p:ph idx="1"/>
          </p:nvPr>
        </p:nvSpPr>
        <p:spPr/>
        <p:txBody>
          <a:bodyPr/>
          <a:lstStyle/>
          <a:p>
            <a:r>
              <a:rPr lang="en-US" b="0" i="0" dirty="0">
                <a:solidFill>
                  <a:srgbClr val="51565E"/>
                </a:solidFill>
                <a:effectLst/>
                <a:latin typeface="Roboto" panose="02000000000000000000" pitchFamily="2" charset="0"/>
              </a:rPr>
              <a:t>A Histogram is a bar representation of data  that varies over a range.</a:t>
            </a:r>
          </a:p>
          <a:p>
            <a:r>
              <a:rPr lang="en-US" b="0" i="0" dirty="0">
                <a:solidFill>
                  <a:srgbClr val="51565E"/>
                </a:solidFill>
                <a:effectLst/>
                <a:latin typeface="Roboto" panose="02000000000000000000" pitchFamily="2" charset="0"/>
              </a:rPr>
              <a:t>It plots the height of the data belonging to a range along the y-axis and the range along the x-axis. </a:t>
            </a:r>
          </a:p>
          <a:p>
            <a:r>
              <a:rPr lang="en-US" b="0" i="0" dirty="0">
                <a:solidFill>
                  <a:srgbClr val="51565E"/>
                </a:solidFill>
                <a:effectLst/>
                <a:latin typeface="Roboto" panose="02000000000000000000" pitchFamily="2" charset="0"/>
              </a:rPr>
              <a:t>Histograms are used to plot data over a range of values. They use a bar representation to show the data belonging to each range.</a:t>
            </a:r>
            <a:endParaRPr lang="en-IN" dirty="0"/>
          </a:p>
        </p:txBody>
      </p:sp>
    </p:spTree>
    <p:extLst>
      <p:ext uri="{BB962C8B-B14F-4D97-AF65-F5344CB8AC3E}">
        <p14:creationId xmlns:p14="http://schemas.microsoft.com/office/powerpoint/2010/main" val="425258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894149-1722-8DD4-2E35-2FF1B8D8A5AC}"/>
              </a:ext>
            </a:extLst>
          </p:cNvPr>
          <p:cNvPicPr>
            <a:picLocks noChangeAspect="1"/>
          </p:cNvPicPr>
          <p:nvPr/>
        </p:nvPicPr>
        <p:blipFill>
          <a:blip r:embed="rId2"/>
          <a:stretch>
            <a:fillRect/>
          </a:stretch>
        </p:blipFill>
        <p:spPr>
          <a:xfrm>
            <a:off x="1100137" y="523875"/>
            <a:ext cx="6943725" cy="5810250"/>
          </a:xfrm>
          <a:prstGeom prst="rect">
            <a:avLst/>
          </a:prstGeom>
        </p:spPr>
      </p:pic>
    </p:spTree>
    <p:extLst>
      <p:ext uri="{BB962C8B-B14F-4D97-AF65-F5344CB8AC3E}">
        <p14:creationId xmlns:p14="http://schemas.microsoft.com/office/powerpoint/2010/main" val="359431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E1D1B8-A90D-F3E3-45F8-9B81E8620B24}"/>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kern="1200">
                <a:solidFill>
                  <a:schemeClr val="bg1"/>
                </a:solidFill>
                <a:latin typeface="+mj-lt"/>
                <a:ea typeface="+mj-ea"/>
                <a:cs typeface="+mj-cs"/>
              </a:rPr>
              <a:t>Output</a:t>
            </a:r>
          </a:p>
        </p:txBody>
      </p:sp>
      <p:pic>
        <p:nvPicPr>
          <p:cNvPr id="5" name="Content Placeholder 4">
            <a:extLst>
              <a:ext uri="{FF2B5EF4-FFF2-40B4-BE49-F238E27FC236}">
                <a16:creationId xmlns:a16="http://schemas.microsoft.com/office/drawing/2014/main" id="{AC0EDEDF-9B8C-C1F1-54D4-BF2CB354C054}"/>
              </a:ext>
            </a:extLst>
          </p:cNvPr>
          <p:cNvPicPr>
            <a:picLocks noGrp="1" noChangeAspect="1"/>
          </p:cNvPicPr>
          <p:nvPr>
            <p:ph idx="1"/>
          </p:nvPr>
        </p:nvPicPr>
        <p:blipFill>
          <a:blip r:embed="rId2"/>
          <a:stretch>
            <a:fillRect/>
          </a:stretch>
        </p:blipFill>
        <p:spPr>
          <a:xfrm>
            <a:off x="2122212" y="1675227"/>
            <a:ext cx="4899574" cy="4394199"/>
          </a:xfrm>
          <a:prstGeom prst="rect">
            <a:avLst/>
          </a:prstGeom>
        </p:spPr>
      </p:pic>
    </p:spTree>
    <p:extLst>
      <p:ext uri="{BB962C8B-B14F-4D97-AF65-F5344CB8AC3E}">
        <p14:creationId xmlns:p14="http://schemas.microsoft.com/office/powerpoint/2010/main" val="3964115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44CA8-6A1B-E55F-D185-64CBA72E6D7C}"/>
              </a:ext>
            </a:extLst>
          </p:cNvPr>
          <p:cNvSpPr>
            <a:spLocks noGrp="1"/>
          </p:cNvSpPr>
          <p:nvPr>
            <p:ph type="title"/>
          </p:nvPr>
        </p:nvSpPr>
        <p:spPr/>
        <p:txBody>
          <a:bodyPr/>
          <a:lstStyle/>
          <a:p>
            <a:r>
              <a:rPr lang="en-US" dirty="0"/>
              <a:t>Output</a:t>
            </a:r>
            <a:endParaRPr lang="en-IN" dirty="0"/>
          </a:p>
        </p:txBody>
      </p:sp>
      <p:pic>
        <p:nvPicPr>
          <p:cNvPr id="5" name="Content Placeholder 4">
            <a:extLst>
              <a:ext uri="{FF2B5EF4-FFF2-40B4-BE49-F238E27FC236}">
                <a16:creationId xmlns:a16="http://schemas.microsoft.com/office/drawing/2014/main" id="{017EFCB4-C070-870C-B6D4-F98C5883BF7B}"/>
              </a:ext>
            </a:extLst>
          </p:cNvPr>
          <p:cNvPicPr>
            <a:picLocks noGrp="1" noChangeAspect="1"/>
          </p:cNvPicPr>
          <p:nvPr>
            <p:ph idx="1"/>
          </p:nvPr>
        </p:nvPicPr>
        <p:blipFill>
          <a:blip r:embed="rId2"/>
          <a:stretch>
            <a:fillRect/>
          </a:stretch>
        </p:blipFill>
        <p:spPr>
          <a:xfrm>
            <a:off x="1855582" y="1825625"/>
            <a:ext cx="5432835" cy="4351338"/>
          </a:xfrm>
        </p:spPr>
      </p:pic>
    </p:spTree>
    <p:extLst>
      <p:ext uri="{BB962C8B-B14F-4D97-AF65-F5344CB8AC3E}">
        <p14:creationId xmlns:p14="http://schemas.microsoft.com/office/powerpoint/2010/main" val="1476973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C1919-24CE-4332-BB1B-AF5C04C3EA02}"/>
              </a:ext>
            </a:extLst>
          </p:cNvPr>
          <p:cNvSpPr>
            <a:spLocks noGrp="1"/>
          </p:cNvSpPr>
          <p:nvPr>
            <p:ph type="title"/>
          </p:nvPr>
        </p:nvSpPr>
        <p:spPr/>
        <p:txBody>
          <a:bodyPr/>
          <a:lstStyle/>
          <a:p>
            <a:r>
              <a:rPr lang="en-US" dirty="0"/>
              <a:t>Pie Chart</a:t>
            </a:r>
            <a:endParaRPr lang="en-IN" dirty="0"/>
          </a:p>
        </p:txBody>
      </p:sp>
      <p:pic>
        <p:nvPicPr>
          <p:cNvPr id="5" name="Content Placeholder 4">
            <a:extLst>
              <a:ext uri="{FF2B5EF4-FFF2-40B4-BE49-F238E27FC236}">
                <a16:creationId xmlns:a16="http://schemas.microsoft.com/office/drawing/2014/main" id="{DEFADC02-7230-02C3-1DB9-B0D3FCCA6098}"/>
              </a:ext>
            </a:extLst>
          </p:cNvPr>
          <p:cNvPicPr>
            <a:picLocks noGrp="1" noChangeAspect="1"/>
          </p:cNvPicPr>
          <p:nvPr>
            <p:ph idx="1"/>
          </p:nvPr>
        </p:nvPicPr>
        <p:blipFill>
          <a:blip r:embed="rId2"/>
          <a:stretch>
            <a:fillRect/>
          </a:stretch>
        </p:blipFill>
        <p:spPr>
          <a:xfrm>
            <a:off x="1835416" y="1825625"/>
            <a:ext cx="5473167" cy="4351338"/>
          </a:xfrm>
        </p:spPr>
      </p:pic>
    </p:spTree>
    <p:extLst>
      <p:ext uri="{BB962C8B-B14F-4D97-AF65-F5344CB8AC3E}">
        <p14:creationId xmlns:p14="http://schemas.microsoft.com/office/powerpoint/2010/main" val="1965314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BEA9139-F06F-8518-DF32-2C23FAE0B0FA}"/>
              </a:ext>
            </a:extLst>
          </p:cNvPr>
          <p:cNvSpPr/>
          <p:nvPr/>
        </p:nvSpPr>
        <p:spPr>
          <a:xfrm>
            <a:off x="3239745" y="2967335"/>
            <a:ext cx="2664512" cy="923330"/>
          </a:xfrm>
          <a:prstGeom prst="rect">
            <a:avLst/>
          </a:prstGeom>
          <a:noFill/>
        </p:spPr>
        <p:txBody>
          <a:bodyPr wrap="non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The End</a:t>
            </a:r>
          </a:p>
        </p:txBody>
      </p:sp>
    </p:spTree>
    <p:extLst>
      <p:ext uri="{BB962C8B-B14F-4D97-AF65-F5344CB8AC3E}">
        <p14:creationId xmlns:p14="http://schemas.microsoft.com/office/powerpoint/2010/main" val="34959404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1473</TotalTime>
  <Words>472</Words>
  <Application>Microsoft Office PowerPoint</Application>
  <PresentationFormat>On-screen Show (4:3)</PresentationFormat>
  <Paragraphs>44</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Aptos</vt:lpstr>
      <vt:lpstr>Aptos Display</vt:lpstr>
      <vt:lpstr>Arial</vt:lpstr>
      <vt:lpstr>Roboto</vt:lpstr>
      <vt:lpstr>Office Theme</vt:lpstr>
      <vt:lpstr>Data Visualization in Python</vt:lpstr>
      <vt:lpstr>Data Visualization</vt:lpstr>
      <vt:lpstr>Data Visualization in Python</vt:lpstr>
      <vt:lpstr>Using Matplotlib module</vt:lpstr>
      <vt:lpstr>Matplotlib and Seaborn </vt:lpstr>
      <vt:lpstr>Matplotlib vs Seaborn</vt:lpstr>
      <vt:lpstr>A Line Chart</vt:lpstr>
      <vt:lpstr>PowerPoint Presentation</vt:lpstr>
      <vt:lpstr>PowerPoint Presentation</vt:lpstr>
      <vt:lpstr>PowerPoint Presentation</vt:lpstr>
      <vt:lpstr>PowerPoint Presentation</vt:lpstr>
      <vt:lpstr>PowerPoint Presentation</vt:lpstr>
      <vt:lpstr>Output</vt:lpstr>
      <vt:lpstr>Bar Graphs</vt:lpstr>
      <vt:lpstr>Bar Graph</vt:lpstr>
      <vt:lpstr>Output</vt:lpstr>
      <vt:lpstr>PowerPoint Presentation</vt:lpstr>
      <vt:lpstr>PowerPoint Presentation</vt:lpstr>
      <vt:lpstr>Histogram</vt:lpstr>
      <vt:lpstr>PowerPoint Presentation</vt:lpstr>
      <vt:lpstr>Output</vt:lpstr>
      <vt:lpstr>Output</vt:lpstr>
      <vt:lpstr>Pie Chart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Ashwin Bhagat</dc:creator>
  <cp:lastModifiedBy>sarfraaz14282007111@gmail.com</cp:lastModifiedBy>
  <cp:revision>35</cp:revision>
  <dcterms:created xsi:type="dcterms:W3CDTF">2025-04-08T13:35:00Z</dcterms:created>
  <dcterms:modified xsi:type="dcterms:W3CDTF">2025-06-05T04:08:01Z</dcterms:modified>
</cp:coreProperties>
</file>