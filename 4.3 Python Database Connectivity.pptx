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70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03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18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85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9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2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37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88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0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96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1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C747F-7B20-4839-B6C8-6246CEC63B02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4B200-9465-4FC3-831C-7B9AAC765E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26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49B82-FBEA-BBBA-6CFA-BCF4FAC82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063296"/>
            <a:ext cx="6858000" cy="1152663"/>
          </a:xfrm>
        </p:spPr>
        <p:txBody>
          <a:bodyPr anchor="ctr">
            <a:normAutofit/>
          </a:bodyPr>
          <a:lstStyle/>
          <a:p>
            <a:r>
              <a:rPr lang="en-US" sz="3800"/>
              <a:t>Python –MySQL database connectivity</a:t>
            </a:r>
            <a:endParaRPr lang="en-IN" sz="3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0776AB-EE46-00A4-236C-6F6E32258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329534"/>
            <a:ext cx="6858000" cy="646785"/>
          </a:xfrm>
        </p:spPr>
        <p:txBody>
          <a:bodyPr>
            <a:norm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DC7AC0-B8A2-3FF4-66AD-AFA252BE6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287" y="2304530"/>
            <a:ext cx="4001426" cy="49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39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BAE53-8344-BAB3-788B-18F0CDA5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Databases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BD016-EA75-995B-3684-59058C3DF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Relational databases are a powerful, flexible way to store and retrieve many kinds of data.</a:t>
            </a:r>
          </a:p>
          <a:p>
            <a:r>
              <a:rPr lang="en-US" dirty="0"/>
              <a:t>There are many relational database implementations, which vary in scala </a:t>
            </a:r>
            <a:r>
              <a:rPr lang="en-US" dirty="0" err="1"/>
              <a:t>bility</a:t>
            </a:r>
            <a:r>
              <a:rPr lang="en-US" dirty="0"/>
              <a:t> and richness of features. </a:t>
            </a:r>
          </a:p>
          <a:p>
            <a:r>
              <a:rPr lang="en-US" dirty="0"/>
              <a:t>The standard libraries do not include relational database support; however, Python modules exist to access almost any relational database, including Oracle, MySQL, DB/2, and Sybase.</a:t>
            </a:r>
          </a:p>
          <a:p>
            <a:r>
              <a:rPr lang="en-US" dirty="0"/>
              <a:t>The Python Database API defines a standard interface for Python modules that access a relational database.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33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2506-7CB6-1F8E-821B-846FD5B6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API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C1393-9149-4BCB-3C46-15744344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DB API provides a minimal standard for working with databases, using Python structures and syn tax wherever possible. This API includes the following:</a:t>
            </a:r>
          </a:p>
          <a:p>
            <a:pPr lvl="1"/>
            <a:r>
              <a:rPr lang="en-US" dirty="0"/>
              <a:t>Connections, which cover guidelines for how to connect to databases</a:t>
            </a:r>
          </a:p>
          <a:p>
            <a:pPr lvl="1"/>
            <a:r>
              <a:rPr lang="en-US" dirty="0"/>
              <a:t>Executing statements to query, update, insert, and delete data with cursors</a:t>
            </a:r>
          </a:p>
          <a:p>
            <a:pPr lvl="1"/>
            <a:r>
              <a:rPr lang="en-US" dirty="0"/>
              <a:t>Transactions, with support for committing or rolling back a transaction</a:t>
            </a:r>
          </a:p>
          <a:p>
            <a:pPr lvl="1"/>
            <a:r>
              <a:rPr lang="en-US" dirty="0"/>
              <a:t>Examining metadata on the database module as well as on database and table structure</a:t>
            </a:r>
          </a:p>
        </p:txBody>
      </p:sp>
    </p:spTree>
    <p:extLst>
      <p:ext uri="{BB962C8B-B14F-4D97-AF65-F5344CB8AC3E}">
        <p14:creationId xmlns:p14="http://schemas.microsoft.com/office/powerpoint/2010/main" val="42511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B26A-5BC9-9A57-3C97-3E95FCB91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5A48-D711-5107-C7CC-09BCB086F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connect method constructs a database connection. </a:t>
            </a:r>
          </a:p>
          <a:p>
            <a:r>
              <a:rPr lang="en-US" dirty="0"/>
              <a:t>The connection is used in constructing cursors. When finished with a connection, call its close method to free it.</a:t>
            </a:r>
          </a:p>
          <a:p>
            <a:r>
              <a:rPr lang="en-US" dirty="0"/>
              <a:t>Databases generally provide a limited pool of connections, so a program should not needlessly use them up.</a:t>
            </a:r>
          </a:p>
          <a:p>
            <a:r>
              <a:rPr lang="en-US" dirty="0"/>
              <a:t>The parameters of the connect method vary by module, but typically include </a:t>
            </a:r>
            <a:r>
              <a:rPr lang="en-US" dirty="0" err="1"/>
              <a:t>dsn</a:t>
            </a:r>
            <a:r>
              <a:rPr lang="en-US" dirty="0"/>
              <a:t> (data source name), user, password, host, and database.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779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085BE-9824-0C12-3864-A425566C8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Connection Object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8B6236-BD04-645A-9636-33BA04026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3049050"/>
            <a:ext cx="8058150" cy="255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76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501B-E167-1E5E-EEB1-F46BD43D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5D75-375E-9474-C0E4-09A5C132D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transaction is a collection of actions that must execute atomically</a:t>
            </a:r>
          </a:p>
          <a:p>
            <a:r>
              <a:rPr lang="en-US" dirty="0"/>
              <a:t>a bank transfer might debit one account and credit another; this should be done within a single transaction, as performing only one half of the transfer would obviously be unacceptable. </a:t>
            </a:r>
          </a:p>
          <a:p>
            <a:r>
              <a:rPr lang="en-US" dirty="0"/>
              <a:t>Calling the </a:t>
            </a:r>
            <a:r>
              <a:rPr lang="en-US" b="1" dirty="0"/>
              <a:t>commit</a:t>
            </a:r>
            <a:r>
              <a:rPr lang="en-US" dirty="0"/>
              <a:t> connection method completes the current transaction; calling </a:t>
            </a:r>
            <a:r>
              <a:rPr lang="en-US" b="1" dirty="0"/>
              <a:t>rollback</a:t>
            </a:r>
            <a:r>
              <a:rPr lang="en-US" dirty="0"/>
              <a:t> cancels the current transaction.</a:t>
            </a:r>
          </a:p>
          <a:p>
            <a:r>
              <a:rPr lang="en-US" dirty="0"/>
              <a:t>Not all databases support transactions— for example, Oracle does, MySQL doesn’t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59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099CC-04BF-2BC7-F315-7A590F77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5578"/>
          </a:xfrm>
        </p:spPr>
        <p:txBody>
          <a:bodyPr>
            <a:normAutofit fontScale="90000"/>
          </a:bodyPr>
          <a:lstStyle/>
          <a:p>
            <a:r>
              <a:rPr lang="en-US" dirty="0"/>
              <a:t>Cursor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AAD4-9922-D5FA-DE89-5517AE43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60705"/>
            <a:ext cx="7886700" cy="543216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cursor can execute SQL statements and retrieve data.</a:t>
            </a:r>
          </a:p>
          <a:p>
            <a:r>
              <a:rPr lang="en-US" dirty="0"/>
              <a:t>The connection method cursor creates and returns a new cursor. </a:t>
            </a:r>
          </a:p>
          <a:p>
            <a:r>
              <a:rPr lang="en-US" dirty="0"/>
              <a:t>The cursor method execute(command [,parameters]) executes the specified SQL statement command, passing any necessary parameters.</a:t>
            </a:r>
          </a:p>
          <a:p>
            <a:r>
              <a:rPr lang="en-US" dirty="0"/>
              <a:t>After executing a command that affects row data, the cursor attribute </a:t>
            </a:r>
            <a:r>
              <a:rPr lang="en-US" dirty="0" err="1">
                <a:solidFill>
                  <a:srgbClr val="FF0000"/>
                </a:solidFill>
              </a:rPr>
              <a:t>rowcount</a:t>
            </a:r>
            <a:r>
              <a:rPr lang="en-US" dirty="0"/>
              <a:t> indicates the number of rows altered or returned; </a:t>
            </a:r>
          </a:p>
          <a:p>
            <a:r>
              <a:rPr lang="en-US" dirty="0"/>
              <a:t>After executing a command that selects data, the method </a:t>
            </a:r>
            <a:r>
              <a:rPr lang="en-US" dirty="0" err="1">
                <a:solidFill>
                  <a:srgbClr val="FF0000"/>
                </a:solidFill>
              </a:rPr>
              <a:t>fetchone</a:t>
            </a:r>
            <a:r>
              <a:rPr lang="en-US" dirty="0"/>
              <a:t> returns the next row of data</a:t>
            </a:r>
          </a:p>
          <a:p>
            <a:r>
              <a:rPr lang="en-US" dirty="0"/>
              <a:t>The method </a:t>
            </a:r>
            <a:r>
              <a:rPr lang="en-US" dirty="0" err="1">
                <a:solidFill>
                  <a:srgbClr val="FF0000"/>
                </a:solidFill>
              </a:rPr>
              <a:t>fetchmany</a:t>
            </a:r>
            <a:r>
              <a:rPr lang="en-US" dirty="0"/>
              <a:t>([size]) returns a sequence of rows—up to size of them. </a:t>
            </a:r>
          </a:p>
          <a:p>
            <a:r>
              <a:rPr lang="en-US" dirty="0"/>
              <a:t>The method </a:t>
            </a:r>
            <a:r>
              <a:rPr lang="en-US" dirty="0" err="1">
                <a:solidFill>
                  <a:srgbClr val="FF0000"/>
                </a:solidFill>
              </a:rPr>
              <a:t>fetchall</a:t>
            </a:r>
            <a:r>
              <a:rPr lang="en-US" dirty="0"/>
              <a:t> returns all the 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47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8EE-4949-41CF-CD0D-6F0A636EA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8042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Connecting to a MYSQL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4192D-DB1F-DFCE-1BB5-9A06B5DD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09473"/>
            <a:ext cx="7886700" cy="2645663"/>
          </a:xfrm>
        </p:spPr>
        <p:txBody>
          <a:bodyPr/>
          <a:lstStyle/>
          <a:p>
            <a:r>
              <a:rPr lang="en-US" dirty="0"/>
              <a:t>To connect to a </a:t>
            </a:r>
            <a:r>
              <a:rPr lang="en-US" dirty="0" err="1"/>
              <a:t>mysql</a:t>
            </a:r>
            <a:r>
              <a:rPr lang="en-US" dirty="0"/>
              <a:t> database we need a connector which can be downloaded by the following steps:</a:t>
            </a:r>
          </a:p>
          <a:p>
            <a:r>
              <a:rPr lang="en-US" dirty="0"/>
              <a:t>Open the command prompt-&gt; Type the following command in the windows command prompt: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python -m pip install </a:t>
            </a:r>
            <a:r>
              <a:rPr lang="en-US" dirty="0" err="1">
                <a:solidFill>
                  <a:srgbClr val="FF0000"/>
                </a:solidFill>
              </a:rPr>
              <a:t>mysql</a:t>
            </a:r>
            <a:r>
              <a:rPr lang="en-US" dirty="0">
                <a:solidFill>
                  <a:srgbClr val="FF0000"/>
                </a:solidFill>
              </a:rPr>
              <a:t>-connector-python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9E887-8FE0-A50F-8488-4E5F4412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1" y="3827654"/>
            <a:ext cx="7936089" cy="275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1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517D9-641A-184C-049D-5E04C95B3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2857"/>
            <a:ext cx="7886700" cy="2441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check whether the  python interface is connected or not open the python IDLE &amp; type 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import </a:t>
            </a:r>
            <a:r>
              <a:rPr lang="en-IN" dirty="0" err="1">
                <a:solidFill>
                  <a:srgbClr val="FF0000"/>
                </a:solidFill>
              </a:rPr>
              <a:t>mysql.connector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/>
              <a:t>If there is not error after executing this command then the </a:t>
            </a:r>
            <a:r>
              <a:rPr lang="en-IN" dirty="0" err="1"/>
              <a:t>mysql</a:t>
            </a:r>
            <a:r>
              <a:rPr lang="en-IN" dirty="0"/>
              <a:t> connector is installed successfully.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24E04-2921-092B-6D09-067B4039B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2891659"/>
            <a:ext cx="8680704" cy="127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95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2E6A-8944-F451-8EFC-280A4B87B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to Connect and print the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DD8A2-2374-F298-6C78-E7355A18F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r>
              <a:rPr lang="en-IN" dirty="0" err="1"/>
              <a:t>mydb</a:t>
            </a:r>
            <a:r>
              <a:rPr lang="en-IN" dirty="0"/>
              <a:t> = </a:t>
            </a:r>
            <a:r>
              <a:rPr lang="en-IN" dirty="0" err="1"/>
              <a:t>mysql.connector.connect</a:t>
            </a:r>
            <a:r>
              <a:rPr lang="en-IN" dirty="0"/>
              <a:t>(</a:t>
            </a:r>
          </a:p>
          <a:p>
            <a:r>
              <a:rPr lang="en-IN" dirty="0"/>
              <a:t>  host="localhost",</a:t>
            </a:r>
          </a:p>
          <a:p>
            <a:r>
              <a:rPr lang="en-IN" dirty="0"/>
              <a:t>  user="root",</a:t>
            </a:r>
          </a:p>
          <a:p>
            <a:r>
              <a:rPr lang="en-IN" dirty="0"/>
              <a:t>  password="root",</a:t>
            </a:r>
          </a:p>
          <a:p>
            <a:r>
              <a:rPr lang="en-IN" dirty="0"/>
              <a:t>  database="</a:t>
            </a:r>
            <a:r>
              <a:rPr lang="en-IN" dirty="0" err="1"/>
              <a:t>bcadb</a:t>
            </a:r>
            <a:r>
              <a:rPr lang="en-IN" dirty="0"/>
              <a:t>")</a:t>
            </a:r>
          </a:p>
          <a:p>
            <a:r>
              <a:rPr lang="en-IN" dirty="0"/>
              <a:t>print(</a:t>
            </a:r>
            <a:r>
              <a:rPr lang="en-IN" dirty="0" err="1"/>
              <a:t>mydb</a:t>
            </a:r>
            <a:r>
              <a:rPr lang="en-IN" dirty="0"/>
              <a:t>)</a:t>
            </a:r>
          </a:p>
          <a:p>
            <a:r>
              <a:rPr lang="en-IN" dirty="0" err="1"/>
              <a:t>mycursor</a:t>
            </a:r>
            <a:r>
              <a:rPr lang="en-IN" dirty="0"/>
              <a:t> = </a:t>
            </a:r>
            <a:r>
              <a:rPr lang="en-IN" dirty="0" err="1"/>
              <a:t>mydb.cursor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mycursor.execute</a:t>
            </a:r>
            <a:r>
              <a:rPr lang="en-IN" dirty="0"/>
              <a:t>("CREATE DATABASE </a:t>
            </a:r>
            <a:r>
              <a:rPr lang="en-IN" dirty="0" err="1"/>
              <a:t>mydatabase</a:t>
            </a:r>
            <a:r>
              <a:rPr lang="en-IN" dirty="0"/>
              <a:t>")</a:t>
            </a:r>
          </a:p>
          <a:p>
            <a:r>
              <a:rPr lang="en-IN" dirty="0" err="1"/>
              <a:t>mycursor.execute</a:t>
            </a:r>
            <a:r>
              <a:rPr lang="en-IN" dirty="0"/>
              <a:t>("SHOW DATABASES")</a:t>
            </a:r>
          </a:p>
          <a:p>
            <a:r>
              <a:rPr lang="en-IN" dirty="0"/>
              <a:t>for x in </a:t>
            </a:r>
            <a:r>
              <a:rPr lang="en-IN" dirty="0" err="1"/>
              <a:t>mycursor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  print(x)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409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D73EB3-E335-AF3B-267E-F03B32814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5320"/>
            <a:ext cx="9144000" cy="35673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9B2D44-90AE-148C-3AF4-8D63EE4676FD}"/>
              </a:ext>
            </a:extLst>
          </p:cNvPr>
          <p:cNvSpPr/>
          <p:nvPr/>
        </p:nvSpPr>
        <p:spPr>
          <a:xfrm>
            <a:off x="2701432" y="358247"/>
            <a:ext cx="24000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78572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10899-1B81-AD46-81D5-BC40BB630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Records in a Table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96BF8C-D3D8-08E7-523A-9100DEE39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94200"/>
            <a:ext cx="7886700" cy="40141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110C70-B9A7-BC53-AA5E-45737681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680" y="2528729"/>
            <a:ext cx="3846683" cy="16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318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C5F56B-61DA-30BA-90C4-BA9C402F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970"/>
            <a:ext cx="9144000" cy="4104060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9FF152-AF9A-32BF-86C3-B14F5E7B7A0F}"/>
              </a:ext>
            </a:extLst>
          </p:cNvPr>
          <p:cNvSpPr/>
          <p:nvPr/>
        </p:nvSpPr>
        <p:spPr>
          <a:xfrm>
            <a:off x="1344980" y="297287"/>
            <a:ext cx="58932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Selecting Records</a:t>
            </a:r>
          </a:p>
        </p:txBody>
      </p:sp>
    </p:spTree>
    <p:extLst>
      <p:ext uri="{BB962C8B-B14F-4D97-AF65-F5344CB8AC3E}">
        <p14:creationId xmlns:p14="http://schemas.microsoft.com/office/powerpoint/2010/main" val="1414515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0CB18D-6442-010F-5275-8A8D1572C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3355"/>
            <a:ext cx="9144000" cy="195129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7B3607-6FDD-502F-6F3B-B3E21FB6462C}"/>
              </a:ext>
            </a:extLst>
          </p:cNvPr>
          <p:cNvSpPr txBox="1"/>
          <p:nvPr/>
        </p:nvSpPr>
        <p:spPr>
          <a:xfrm>
            <a:off x="2115312" y="50418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09672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CB7A0-4384-EA4F-86A0-050AE4D2F7C7}"/>
              </a:ext>
            </a:extLst>
          </p:cNvPr>
          <p:cNvSpPr/>
          <p:nvPr/>
        </p:nvSpPr>
        <p:spPr>
          <a:xfrm>
            <a:off x="3137955" y="2967335"/>
            <a:ext cx="28680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The End!</a:t>
            </a:r>
          </a:p>
        </p:txBody>
      </p:sp>
    </p:spTree>
    <p:extLst>
      <p:ext uri="{BB962C8B-B14F-4D97-AF65-F5344CB8AC3E}">
        <p14:creationId xmlns:p14="http://schemas.microsoft.com/office/powerpoint/2010/main" val="2130669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294</TotalTime>
  <Words>606</Words>
  <Application>Microsoft Office PowerPoint</Application>
  <PresentationFormat>On-screen Show (4:3)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Python –MySQL database connectivity</vt:lpstr>
      <vt:lpstr>Relational Databases</vt:lpstr>
      <vt:lpstr>DB API</vt:lpstr>
      <vt:lpstr>Connection Objects</vt:lpstr>
      <vt:lpstr>Connection Object Parameters</vt:lpstr>
      <vt:lpstr>Transactions</vt:lpstr>
      <vt:lpstr>Cursor objects</vt:lpstr>
      <vt:lpstr>Connecting to a MYSQL database</vt:lpstr>
      <vt:lpstr>PowerPoint Presentation</vt:lpstr>
      <vt:lpstr>Program to Connect and print the Database</vt:lpstr>
      <vt:lpstr>PowerPoint Presentation</vt:lpstr>
      <vt:lpstr>Inserting Records in a Table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43</cp:revision>
  <dcterms:created xsi:type="dcterms:W3CDTF">2025-04-21T05:23:50Z</dcterms:created>
  <dcterms:modified xsi:type="dcterms:W3CDTF">2025-04-21T10:18:46Z</dcterms:modified>
</cp:coreProperties>
</file>