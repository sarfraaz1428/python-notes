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2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238B13-C2BA-4A7E-BA7B-CBD3B6C3ED32}"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2396465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238B13-C2BA-4A7E-BA7B-CBD3B6C3ED32}"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209217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238B13-C2BA-4A7E-BA7B-CBD3B6C3ED32}"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865591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238B13-C2BA-4A7E-BA7B-CBD3B6C3ED32}"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14311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238B13-C2BA-4A7E-BA7B-CBD3B6C3ED32}" type="datetimeFigureOut">
              <a:rPr lang="en-IN" smtClean="0"/>
              <a:t>22-04-2025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136760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238B13-C2BA-4A7E-BA7B-CBD3B6C3ED32}" type="datetimeFigureOut">
              <a:rPr lang="en-IN" smtClean="0"/>
              <a:t>22-04-2025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1834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238B13-C2BA-4A7E-BA7B-CBD3B6C3ED32}" type="datetimeFigureOut">
              <a:rPr lang="en-IN" smtClean="0"/>
              <a:t>22-04-2025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1992696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238B13-C2BA-4A7E-BA7B-CBD3B6C3ED32}"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1369588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238B13-C2BA-4A7E-BA7B-CBD3B6C3ED32}"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3813488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238B13-C2BA-4A7E-BA7B-CBD3B6C3ED32}"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3967649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238B13-C2BA-4A7E-BA7B-CBD3B6C3ED32}"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C07887-3874-4284-A94B-8EAB835A4DA6}" type="slidenum">
              <a:rPr lang="en-IN" smtClean="0"/>
              <a:t>‹#›</a:t>
            </a:fld>
            <a:endParaRPr lang="en-IN"/>
          </a:p>
        </p:txBody>
      </p:sp>
    </p:spTree>
    <p:extLst>
      <p:ext uri="{BB962C8B-B14F-4D97-AF65-F5344CB8AC3E}">
        <p14:creationId xmlns:p14="http://schemas.microsoft.com/office/powerpoint/2010/main" val="252976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238B13-C2BA-4A7E-BA7B-CBD3B6C3ED32}" type="datetimeFigureOut">
              <a:rPr lang="en-IN" smtClean="0"/>
              <a:t>22-04-2025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C07887-3874-4284-A94B-8EAB835A4DA6}" type="slidenum">
              <a:rPr lang="en-IN" smtClean="0"/>
              <a:t>‹#›</a:t>
            </a:fld>
            <a:endParaRPr lang="en-IN"/>
          </a:p>
        </p:txBody>
      </p:sp>
    </p:spTree>
    <p:extLst>
      <p:ext uri="{BB962C8B-B14F-4D97-AF65-F5344CB8AC3E}">
        <p14:creationId xmlns:p14="http://schemas.microsoft.com/office/powerpoint/2010/main" val="24922593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A928-50FF-B0F6-1AB0-4E8FE2E9F1BC}"/>
              </a:ext>
            </a:extLst>
          </p:cNvPr>
          <p:cNvSpPr>
            <a:spLocks noGrp="1"/>
          </p:cNvSpPr>
          <p:nvPr>
            <p:ph type="ctrTitle"/>
          </p:nvPr>
        </p:nvSpPr>
        <p:spPr/>
        <p:txBody>
          <a:bodyPr/>
          <a:lstStyle/>
          <a:p>
            <a:r>
              <a:rPr lang="en-US" dirty="0"/>
              <a:t>Exception Handling in Python</a:t>
            </a:r>
            <a:endParaRPr lang="en-IN" dirty="0"/>
          </a:p>
        </p:txBody>
      </p:sp>
      <p:pic>
        <p:nvPicPr>
          <p:cNvPr id="5" name="Picture 4">
            <a:extLst>
              <a:ext uri="{FF2B5EF4-FFF2-40B4-BE49-F238E27FC236}">
                <a16:creationId xmlns:a16="http://schemas.microsoft.com/office/drawing/2014/main" id="{26881654-5537-74FA-82AC-586B27BD93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541246"/>
            <a:ext cx="7747686" cy="946178"/>
          </a:xfrm>
          <a:prstGeom prst="rect">
            <a:avLst/>
          </a:prstGeom>
        </p:spPr>
      </p:pic>
    </p:spTree>
    <p:extLst>
      <p:ext uri="{BB962C8B-B14F-4D97-AF65-F5344CB8AC3E}">
        <p14:creationId xmlns:p14="http://schemas.microsoft.com/office/powerpoint/2010/main" val="2022518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46B9-5464-8F19-13C0-CE55C23EDF6A}"/>
              </a:ext>
            </a:extLst>
          </p:cNvPr>
          <p:cNvSpPr>
            <a:spLocks noGrp="1"/>
          </p:cNvSpPr>
          <p:nvPr>
            <p:ph type="title"/>
          </p:nvPr>
        </p:nvSpPr>
        <p:spPr/>
        <p:txBody>
          <a:bodyPr/>
          <a:lstStyle/>
          <a:p>
            <a:r>
              <a:rPr lang="en-US" dirty="0"/>
              <a:t>Background</a:t>
            </a:r>
            <a:endParaRPr lang="en-IN" dirty="0"/>
          </a:p>
        </p:txBody>
      </p:sp>
      <p:sp>
        <p:nvSpPr>
          <p:cNvPr id="3" name="Content Placeholder 2">
            <a:extLst>
              <a:ext uri="{FF2B5EF4-FFF2-40B4-BE49-F238E27FC236}">
                <a16:creationId xmlns:a16="http://schemas.microsoft.com/office/drawing/2014/main" id="{B46AEECF-558D-2F42-3C1C-D765FF5E2C44}"/>
              </a:ext>
            </a:extLst>
          </p:cNvPr>
          <p:cNvSpPr>
            <a:spLocks noGrp="1"/>
          </p:cNvSpPr>
          <p:nvPr>
            <p:ph idx="1"/>
          </p:nvPr>
        </p:nvSpPr>
        <p:spPr/>
        <p:txBody>
          <a:bodyPr>
            <a:normAutofit fontScale="92500" lnSpcReduction="20000"/>
          </a:bodyPr>
          <a:lstStyle/>
          <a:p>
            <a:r>
              <a:rPr lang="en-US" dirty="0"/>
              <a:t>An exception is a Python object that represents an error</a:t>
            </a:r>
          </a:p>
          <a:p>
            <a:r>
              <a:rPr lang="en-US" dirty="0"/>
              <a:t>When a function raises an exception, the function must either handle the exception immediately or terminate.</a:t>
            </a:r>
          </a:p>
          <a:p>
            <a:r>
              <a:rPr lang="en-US" dirty="0"/>
              <a:t> If the function doesn’t handle the exception, the caller may handle it. </a:t>
            </a:r>
          </a:p>
          <a:p>
            <a:r>
              <a:rPr lang="en-US" dirty="0"/>
              <a:t>If not, the caller also terminates immediately as well.</a:t>
            </a:r>
          </a:p>
          <a:p>
            <a:r>
              <a:rPr lang="en-US" dirty="0"/>
              <a:t> The exception propagates up the call-stack until someone handles the error. If nobody catches the exception, the whole program terminates.</a:t>
            </a:r>
            <a:endParaRPr lang="en-IN" dirty="0"/>
          </a:p>
        </p:txBody>
      </p:sp>
    </p:spTree>
    <p:extLst>
      <p:ext uri="{BB962C8B-B14F-4D97-AF65-F5344CB8AC3E}">
        <p14:creationId xmlns:p14="http://schemas.microsoft.com/office/powerpoint/2010/main" val="247697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E51F-1336-4AD3-522B-A10064E5E2C3}"/>
              </a:ext>
            </a:extLst>
          </p:cNvPr>
          <p:cNvSpPr>
            <a:spLocks noGrp="1"/>
          </p:cNvSpPr>
          <p:nvPr>
            <p:ph type="title"/>
          </p:nvPr>
        </p:nvSpPr>
        <p:spPr/>
        <p:txBody>
          <a:bodyPr/>
          <a:lstStyle/>
          <a:p>
            <a:r>
              <a:rPr lang="en-US" dirty="0"/>
              <a:t>Handling an Exception</a:t>
            </a:r>
            <a:endParaRPr lang="en-IN" dirty="0"/>
          </a:p>
        </p:txBody>
      </p:sp>
      <p:sp>
        <p:nvSpPr>
          <p:cNvPr id="3" name="Content Placeholder 2">
            <a:extLst>
              <a:ext uri="{FF2B5EF4-FFF2-40B4-BE49-F238E27FC236}">
                <a16:creationId xmlns:a16="http://schemas.microsoft.com/office/drawing/2014/main" id="{192472D5-61DD-EBE5-D130-EC7E84527F0C}"/>
              </a:ext>
            </a:extLst>
          </p:cNvPr>
          <p:cNvSpPr>
            <a:spLocks noGrp="1"/>
          </p:cNvSpPr>
          <p:nvPr>
            <p:ph idx="1"/>
          </p:nvPr>
        </p:nvSpPr>
        <p:spPr>
          <a:xfrm>
            <a:off x="628650" y="1511808"/>
            <a:ext cx="7886700" cy="4981066"/>
          </a:xfrm>
        </p:spPr>
        <p:txBody>
          <a:bodyPr>
            <a:normAutofit fontScale="92500" lnSpcReduction="10000"/>
          </a:bodyPr>
          <a:lstStyle/>
          <a:p>
            <a:r>
              <a:rPr lang="en-US" dirty="0"/>
              <a:t>If you have some “suspicious” code that may raise an exception, you can defend your program by placing the suspicious code in a try: block.</a:t>
            </a:r>
          </a:p>
          <a:p>
            <a:r>
              <a:rPr lang="en-US" dirty="0"/>
              <a:t>After the try: block, include an except statement, followed by a block of code which handles the problem</a:t>
            </a:r>
          </a:p>
          <a:p>
            <a:r>
              <a:rPr lang="en-US" dirty="0"/>
              <a:t>An exception can have an argument, which is a value that gives additional information about the problem. The contents (and even the type) of the argument vary by exception</a:t>
            </a:r>
          </a:p>
          <a:p>
            <a:r>
              <a:rPr lang="en-US" dirty="0"/>
              <a:t>You capture an exception’s argument by supplying a variable in the except clause: except </a:t>
            </a:r>
            <a:r>
              <a:rPr lang="en-US" dirty="0" err="1"/>
              <a:t>ExceptionType</a:t>
            </a:r>
            <a:r>
              <a:rPr lang="en-US" dirty="0"/>
              <a:t>, </a:t>
            </a:r>
            <a:r>
              <a:rPr lang="en-US" dirty="0" err="1"/>
              <a:t>ArgumentVariable</a:t>
            </a:r>
            <a:endParaRPr lang="en-IN" dirty="0"/>
          </a:p>
        </p:txBody>
      </p:sp>
    </p:spTree>
    <p:extLst>
      <p:ext uri="{BB962C8B-B14F-4D97-AF65-F5344CB8AC3E}">
        <p14:creationId xmlns:p14="http://schemas.microsoft.com/office/powerpoint/2010/main" val="1211310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5E4E5F-F547-22CA-98CB-DAE502610B3F}"/>
              </a:ext>
            </a:extLst>
          </p:cNvPr>
          <p:cNvSpPr>
            <a:spLocks noGrp="1"/>
          </p:cNvSpPr>
          <p:nvPr>
            <p:ph idx="1"/>
          </p:nvPr>
        </p:nvSpPr>
        <p:spPr>
          <a:xfrm>
            <a:off x="360426" y="474537"/>
            <a:ext cx="7886700" cy="2707575"/>
          </a:xfrm>
        </p:spPr>
        <p:txBody>
          <a:bodyPr>
            <a:normAutofit fontScale="92500" lnSpcReduction="20000"/>
          </a:bodyPr>
          <a:lstStyle/>
          <a:p>
            <a:r>
              <a:rPr lang="en-US" dirty="0"/>
              <a:t>You can supply several except clauses to handle various types of exceptions. In this case, exceptions are handled by the first applicable except clause. You can also provide a generic except clause, which handles any exception.</a:t>
            </a:r>
          </a:p>
          <a:p>
            <a:r>
              <a:rPr lang="en-US" dirty="0"/>
              <a:t>Python raises an </a:t>
            </a:r>
            <a:r>
              <a:rPr lang="en-US" dirty="0" err="1"/>
              <a:t>IOError</a:t>
            </a:r>
            <a:r>
              <a:rPr lang="en-US" dirty="0"/>
              <a:t> exception if you try to open a file that doesn’t exist. Here is a snippet of code that handles a missing file without crashing</a:t>
            </a:r>
            <a:endParaRPr lang="en-IN" dirty="0"/>
          </a:p>
        </p:txBody>
      </p:sp>
      <p:pic>
        <p:nvPicPr>
          <p:cNvPr id="5" name="Picture 4">
            <a:extLst>
              <a:ext uri="{FF2B5EF4-FFF2-40B4-BE49-F238E27FC236}">
                <a16:creationId xmlns:a16="http://schemas.microsoft.com/office/drawing/2014/main" id="{8E6C19B2-1012-5186-61E5-3DF8855EB754}"/>
              </a:ext>
            </a:extLst>
          </p:cNvPr>
          <p:cNvPicPr>
            <a:picLocks noChangeAspect="1"/>
          </p:cNvPicPr>
          <p:nvPr/>
        </p:nvPicPr>
        <p:blipFill>
          <a:blip r:embed="rId2"/>
          <a:stretch>
            <a:fillRect/>
          </a:stretch>
        </p:blipFill>
        <p:spPr>
          <a:xfrm>
            <a:off x="0" y="3675889"/>
            <a:ext cx="9326962" cy="2355615"/>
          </a:xfrm>
          <a:prstGeom prst="rect">
            <a:avLst/>
          </a:prstGeom>
        </p:spPr>
      </p:pic>
    </p:spTree>
    <p:extLst>
      <p:ext uri="{BB962C8B-B14F-4D97-AF65-F5344CB8AC3E}">
        <p14:creationId xmlns:p14="http://schemas.microsoft.com/office/powerpoint/2010/main" val="2988300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7201DE0-AF80-3CA3-5D51-C14E7730BEB1}"/>
              </a:ext>
            </a:extLst>
          </p:cNvPr>
          <p:cNvPicPr>
            <a:picLocks noGrp="1" noChangeAspect="1"/>
          </p:cNvPicPr>
          <p:nvPr>
            <p:ph idx="1"/>
          </p:nvPr>
        </p:nvPicPr>
        <p:blipFill>
          <a:blip r:embed="rId2"/>
          <a:stretch>
            <a:fillRect/>
          </a:stretch>
        </p:blipFill>
        <p:spPr>
          <a:xfrm>
            <a:off x="434720" y="433419"/>
            <a:ext cx="7477887" cy="3017140"/>
          </a:xfrm>
        </p:spPr>
      </p:pic>
    </p:spTree>
    <p:extLst>
      <p:ext uri="{BB962C8B-B14F-4D97-AF65-F5344CB8AC3E}">
        <p14:creationId xmlns:p14="http://schemas.microsoft.com/office/powerpoint/2010/main" val="2708721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D0BA2-33AB-34E5-68E2-B42681FA36EB}"/>
              </a:ext>
            </a:extLst>
          </p:cNvPr>
          <p:cNvSpPr>
            <a:spLocks noGrp="1"/>
          </p:cNvSpPr>
          <p:nvPr>
            <p:ph type="title"/>
          </p:nvPr>
        </p:nvSpPr>
        <p:spPr>
          <a:xfrm>
            <a:off x="628650" y="365127"/>
            <a:ext cx="7886700" cy="707770"/>
          </a:xfrm>
        </p:spPr>
        <p:txBody>
          <a:bodyPr/>
          <a:lstStyle/>
          <a:p>
            <a:r>
              <a:rPr lang="en-US" dirty="0"/>
              <a:t>Defining &amp; Raising Exceptions</a:t>
            </a:r>
            <a:endParaRPr lang="en-IN" dirty="0"/>
          </a:p>
        </p:txBody>
      </p:sp>
      <p:sp>
        <p:nvSpPr>
          <p:cNvPr id="3" name="Content Placeholder 2">
            <a:extLst>
              <a:ext uri="{FF2B5EF4-FFF2-40B4-BE49-F238E27FC236}">
                <a16:creationId xmlns:a16="http://schemas.microsoft.com/office/drawing/2014/main" id="{F44E15C4-B3E1-F14D-9621-80B87652277B}"/>
              </a:ext>
            </a:extLst>
          </p:cNvPr>
          <p:cNvSpPr>
            <a:spLocks noGrp="1"/>
          </p:cNvSpPr>
          <p:nvPr>
            <p:ph idx="1"/>
          </p:nvPr>
        </p:nvSpPr>
        <p:spPr>
          <a:xfrm>
            <a:off x="628650" y="1377696"/>
            <a:ext cx="7886700" cy="4799267"/>
          </a:xfrm>
        </p:spPr>
        <p:txBody>
          <a:bodyPr>
            <a:normAutofit fontScale="92500"/>
          </a:bodyPr>
          <a:lstStyle/>
          <a:p>
            <a:r>
              <a:rPr lang="en-US" dirty="0"/>
              <a:t>You can raise exceptions with the statement raise </a:t>
            </a:r>
            <a:r>
              <a:rPr lang="en-US" dirty="0" err="1"/>
              <a:t>exceptionType,argument</a:t>
            </a:r>
            <a:r>
              <a:rPr lang="en-US" dirty="0"/>
              <a:t>. </a:t>
            </a:r>
          </a:p>
          <a:p>
            <a:r>
              <a:rPr lang="en-US" dirty="0" err="1"/>
              <a:t>ExceptionType</a:t>
            </a:r>
            <a:r>
              <a:rPr lang="en-US" dirty="0"/>
              <a:t> is the type of exception (for example, </a:t>
            </a:r>
            <a:r>
              <a:rPr lang="en-US" dirty="0" err="1"/>
              <a:t>NameError</a:t>
            </a:r>
            <a:r>
              <a:rPr lang="en-US" dirty="0"/>
              <a:t>).</a:t>
            </a:r>
          </a:p>
          <a:p>
            <a:r>
              <a:rPr lang="en-US" dirty="0"/>
              <a:t>Argument is a value for the exception argument. Argument is optional; if not supplied, the exception argument is None.</a:t>
            </a:r>
          </a:p>
          <a:p>
            <a:r>
              <a:rPr lang="en-US" dirty="0"/>
              <a:t>An exception can be a string, a class, or an object. Most of the exceptions that the Python core raises are classes, with an argument that is an instance of the class. Defining new exceptions is quite easy, as this contrived example demonstrates:</a:t>
            </a:r>
            <a:endParaRPr lang="en-IN" dirty="0"/>
          </a:p>
        </p:txBody>
      </p:sp>
    </p:spTree>
    <p:extLst>
      <p:ext uri="{BB962C8B-B14F-4D97-AF65-F5344CB8AC3E}">
        <p14:creationId xmlns:p14="http://schemas.microsoft.com/office/powerpoint/2010/main" val="3556544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D1037-39D7-F516-2533-63E47DCEFBC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4B2B4E9-0994-AB74-6C73-F1827014EBE2}"/>
              </a:ext>
            </a:extLst>
          </p:cNvPr>
          <p:cNvPicPr>
            <a:picLocks noGrp="1" noChangeAspect="1"/>
          </p:cNvPicPr>
          <p:nvPr>
            <p:ph idx="1"/>
          </p:nvPr>
        </p:nvPicPr>
        <p:blipFill>
          <a:blip r:embed="rId2"/>
          <a:stretch>
            <a:fillRect/>
          </a:stretch>
        </p:blipFill>
        <p:spPr>
          <a:xfrm>
            <a:off x="628650" y="2077815"/>
            <a:ext cx="7771638" cy="2546168"/>
          </a:xfrm>
        </p:spPr>
      </p:pic>
      <p:sp>
        <p:nvSpPr>
          <p:cNvPr id="6" name="TextBox 5">
            <a:extLst>
              <a:ext uri="{FF2B5EF4-FFF2-40B4-BE49-F238E27FC236}">
                <a16:creationId xmlns:a16="http://schemas.microsoft.com/office/drawing/2014/main" id="{F847611D-5DA7-DA3C-C0C7-3AC68A3F604D}"/>
              </a:ext>
            </a:extLst>
          </p:cNvPr>
          <p:cNvSpPr txBox="1"/>
          <p:nvPr/>
        </p:nvSpPr>
        <p:spPr>
          <a:xfrm>
            <a:off x="628650" y="4623983"/>
            <a:ext cx="7430262" cy="646331"/>
          </a:xfrm>
          <a:prstGeom prst="rect">
            <a:avLst/>
          </a:prstGeom>
          <a:noFill/>
        </p:spPr>
        <p:txBody>
          <a:bodyPr wrap="square" rtlCol="0">
            <a:spAutoFit/>
          </a:bodyPr>
          <a:lstStyle/>
          <a:p>
            <a:r>
              <a:rPr lang="en-US" dirty="0"/>
              <a:t>In order to catch an exception, an “except” clause must refer to the same exception thrown. Python co</a:t>
            </a:r>
            <a:endParaRPr lang="en-IN" dirty="0"/>
          </a:p>
        </p:txBody>
      </p:sp>
    </p:spTree>
    <p:extLst>
      <p:ext uri="{BB962C8B-B14F-4D97-AF65-F5344CB8AC3E}">
        <p14:creationId xmlns:p14="http://schemas.microsoft.com/office/powerpoint/2010/main" val="3037066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8FE94-0949-5FE4-4E8A-F13D3FEB1E69}"/>
              </a:ext>
            </a:extLst>
          </p:cNvPr>
          <p:cNvSpPr>
            <a:spLocks noGrp="1"/>
          </p:cNvSpPr>
          <p:nvPr>
            <p:ph type="title"/>
          </p:nvPr>
        </p:nvSpPr>
        <p:spPr>
          <a:xfrm>
            <a:off x="628650" y="365127"/>
            <a:ext cx="7886700" cy="756538"/>
          </a:xfrm>
        </p:spPr>
        <p:txBody>
          <a:bodyPr/>
          <a:lstStyle/>
          <a:p>
            <a:r>
              <a:rPr lang="en-US" dirty="0"/>
              <a:t>Finally</a:t>
            </a:r>
            <a:endParaRPr lang="en-IN" dirty="0"/>
          </a:p>
        </p:txBody>
      </p:sp>
      <p:sp>
        <p:nvSpPr>
          <p:cNvPr id="3" name="Content Placeholder 2">
            <a:extLst>
              <a:ext uri="{FF2B5EF4-FFF2-40B4-BE49-F238E27FC236}">
                <a16:creationId xmlns:a16="http://schemas.microsoft.com/office/drawing/2014/main" id="{EE850ED3-7192-C64A-30AF-6451FF1D6599}"/>
              </a:ext>
            </a:extLst>
          </p:cNvPr>
          <p:cNvSpPr>
            <a:spLocks noGrp="1"/>
          </p:cNvSpPr>
          <p:nvPr>
            <p:ph idx="1"/>
          </p:nvPr>
        </p:nvSpPr>
        <p:spPr>
          <a:xfrm>
            <a:off x="628650" y="1121665"/>
            <a:ext cx="7886700" cy="4351338"/>
          </a:xfrm>
        </p:spPr>
        <p:txBody>
          <a:bodyPr>
            <a:normAutofit lnSpcReduction="10000"/>
          </a:bodyPr>
          <a:lstStyle/>
          <a:p>
            <a:r>
              <a:rPr lang="en-US" dirty="0"/>
              <a:t>An alternative mechanism for coping with failure is the finally block. The finally block is a place to put any code that must execute, whether the try-block raised an exception or not. You can provide except clause(s), or a finally clause, but not both.</a:t>
            </a:r>
          </a:p>
          <a:p>
            <a:r>
              <a:rPr lang="en-US" i="1" dirty="0"/>
              <a:t>For example, multithreaded programs often use a lock to prevent threads from stomping on each other’s data. If a thread acquires a lock and crashes without releasing it, the other threads may be kept waiting forever</a:t>
            </a:r>
            <a:endParaRPr lang="en-IN" i="1" dirty="0"/>
          </a:p>
        </p:txBody>
      </p:sp>
      <p:pic>
        <p:nvPicPr>
          <p:cNvPr id="5" name="Picture 4">
            <a:extLst>
              <a:ext uri="{FF2B5EF4-FFF2-40B4-BE49-F238E27FC236}">
                <a16:creationId xmlns:a16="http://schemas.microsoft.com/office/drawing/2014/main" id="{2E72DA2F-AD44-8E51-0350-6B63288BEB5F}"/>
              </a:ext>
            </a:extLst>
          </p:cNvPr>
          <p:cNvPicPr>
            <a:picLocks noChangeAspect="1"/>
          </p:cNvPicPr>
          <p:nvPr/>
        </p:nvPicPr>
        <p:blipFill>
          <a:blip r:embed="rId2"/>
          <a:stretch>
            <a:fillRect/>
          </a:stretch>
        </p:blipFill>
        <p:spPr>
          <a:xfrm>
            <a:off x="1110234" y="5128881"/>
            <a:ext cx="5912358" cy="1587578"/>
          </a:xfrm>
          <a:prstGeom prst="rect">
            <a:avLst/>
          </a:prstGeom>
        </p:spPr>
      </p:pic>
    </p:spTree>
    <p:extLst>
      <p:ext uri="{BB962C8B-B14F-4D97-AF65-F5344CB8AC3E}">
        <p14:creationId xmlns:p14="http://schemas.microsoft.com/office/powerpoint/2010/main" val="302010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4D853-7D02-287B-AAEB-87BDDBFDB2E1}"/>
              </a:ext>
            </a:extLst>
          </p:cNvPr>
          <p:cNvSpPr>
            <a:spLocks noGrp="1"/>
          </p:cNvSpPr>
          <p:nvPr>
            <p:ph type="title"/>
          </p:nvPr>
        </p:nvSpPr>
        <p:spPr>
          <a:xfrm>
            <a:off x="628650" y="365127"/>
            <a:ext cx="7886700" cy="963802"/>
          </a:xfrm>
        </p:spPr>
        <p:txBody>
          <a:bodyPr/>
          <a:lstStyle/>
          <a:p>
            <a:r>
              <a:rPr lang="en-US" dirty="0"/>
              <a:t>Assertions in Python</a:t>
            </a:r>
            <a:endParaRPr lang="en-IN" dirty="0"/>
          </a:p>
        </p:txBody>
      </p:sp>
      <p:sp>
        <p:nvSpPr>
          <p:cNvPr id="3" name="Content Placeholder 2">
            <a:extLst>
              <a:ext uri="{FF2B5EF4-FFF2-40B4-BE49-F238E27FC236}">
                <a16:creationId xmlns:a16="http://schemas.microsoft.com/office/drawing/2014/main" id="{6857A14F-D5FE-BE57-B301-0A145709C28B}"/>
              </a:ext>
            </a:extLst>
          </p:cNvPr>
          <p:cNvSpPr>
            <a:spLocks noGrp="1"/>
          </p:cNvSpPr>
          <p:nvPr>
            <p:ph idx="1"/>
          </p:nvPr>
        </p:nvSpPr>
        <p:spPr>
          <a:xfrm>
            <a:off x="628650" y="1450848"/>
            <a:ext cx="7886700" cy="4888992"/>
          </a:xfrm>
        </p:spPr>
        <p:txBody>
          <a:bodyPr>
            <a:normAutofit fontScale="92500" lnSpcReduction="20000"/>
          </a:bodyPr>
          <a:lstStyle/>
          <a:p>
            <a:r>
              <a:rPr lang="en-US" dirty="0"/>
              <a:t>An assertion is a sanity-check that you can turn on or turn off</a:t>
            </a:r>
          </a:p>
          <a:p>
            <a:r>
              <a:rPr lang="en-US" dirty="0"/>
              <a:t>Using an assertion can help make code self-documenting; raising an </a:t>
            </a:r>
            <a:r>
              <a:rPr lang="en-US" dirty="0" err="1"/>
              <a:t>AssertionError</a:t>
            </a:r>
            <a:r>
              <a:rPr lang="en-US" dirty="0"/>
              <a:t> implies that a problem is due to programmer error and not normal problems.</a:t>
            </a:r>
          </a:p>
          <a:p>
            <a:r>
              <a:rPr lang="en-US" dirty="0"/>
              <a:t>Programmers often place assertions at the start of a function to check for valid input, and after a function call to check for valid output.</a:t>
            </a:r>
          </a:p>
          <a:p>
            <a:r>
              <a:rPr lang="en-US" dirty="0"/>
              <a:t>You can add assertions to your code with the syntax assert . When it encounters an assert statement, Python evaluates the accompanying expression, which is hopefully true. If the expression is false, Python raises an </a:t>
            </a:r>
            <a:r>
              <a:rPr lang="en-US" dirty="0" err="1"/>
              <a:t>AssertionError</a:t>
            </a:r>
            <a:r>
              <a:rPr lang="en-US" dirty="0"/>
              <a:t>.</a:t>
            </a:r>
            <a:endParaRPr lang="en-IN" dirty="0"/>
          </a:p>
        </p:txBody>
      </p:sp>
    </p:spTree>
    <p:extLst>
      <p:ext uri="{BB962C8B-B14F-4D97-AF65-F5344CB8AC3E}">
        <p14:creationId xmlns:p14="http://schemas.microsoft.com/office/powerpoint/2010/main" val="3411447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0BCBF-D9C8-DEB1-F7A7-FF943CF080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ED238B-2B75-BF04-F28F-C4172E1B4EAB}"/>
              </a:ext>
            </a:extLst>
          </p:cNvPr>
          <p:cNvSpPr>
            <a:spLocks noGrp="1"/>
          </p:cNvSpPr>
          <p:nvPr>
            <p:ph idx="1"/>
          </p:nvPr>
        </p:nvSpPr>
        <p:spPr/>
        <p:txBody>
          <a:bodyPr/>
          <a:lstStyle/>
          <a:p>
            <a:r>
              <a:rPr lang="en-US" dirty="0"/>
              <a:t>You can include an assertion argument, via the syntax assert </a:t>
            </a:r>
            <a:r>
              <a:rPr lang="en-US" dirty="0" err="1"/>
              <a:t>Expression,ArgumentExpression</a:t>
            </a:r>
            <a:r>
              <a:rPr lang="en-US" dirty="0"/>
              <a:t>. If the assertion fails, Python uses </a:t>
            </a:r>
            <a:r>
              <a:rPr lang="en-US" dirty="0" err="1"/>
              <a:t>ArgumentExpression</a:t>
            </a:r>
            <a:r>
              <a:rPr lang="en-US" dirty="0"/>
              <a:t> as the argument for the </a:t>
            </a:r>
            <a:r>
              <a:rPr lang="en-US" dirty="0" err="1"/>
              <a:t>AssertionError</a:t>
            </a:r>
            <a:endParaRPr lang="en-US" dirty="0"/>
          </a:p>
          <a:p>
            <a:r>
              <a:rPr lang="en-US" dirty="0"/>
              <a:t>For example, here is a function that converts a temperature from degrees Kelvin to degrees Fahrenheit. Since zero degrees Kelvin is as cold as it gets, the function bails out if it sees a negative temperature:</a:t>
            </a:r>
            <a:endParaRPr lang="en-IN" dirty="0"/>
          </a:p>
        </p:txBody>
      </p:sp>
    </p:spTree>
    <p:extLst>
      <p:ext uri="{BB962C8B-B14F-4D97-AF65-F5344CB8AC3E}">
        <p14:creationId xmlns:p14="http://schemas.microsoft.com/office/powerpoint/2010/main" val="1602490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5D7081-875D-B23E-47D7-B556FE4C9C6D}"/>
              </a:ext>
            </a:extLst>
          </p:cNvPr>
          <p:cNvPicPr>
            <a:picLocks noGrp="1" noChangeAspect="1"/>
          </p:cNvPicPr>
          <p:nvPr>
            <p:ph idx="1"/>
          </p:nvPr>
        </p:nvPicPr>
        <p:blipFill>
          <a:blip r:embed="rId2"/>
          <a:stretch>
            <a:fillRect/>
          </a:stretch>
        </p:blipFill>
        <p:spPr>
          <a:xfrm>
            <a:off x="482600" y="1823910"/>
            <a:ext cx="8178799" cy="3210179"/>
          </a:xfrm>
          <a:prstGeom prst="rect">
            <a:avLst/>
          </a:prstGeom>
        </p:spPr>
      </p:pic>
    </p:spTree>
    <p:extLst>
      <p:ext uri="{BB962C8B-B14F-4D97-AF65-F5344CB8AC3E}">
        <p14:creationId xmlns:p14="http://schemas.microsoft.com/office/powerpoint/2010/main" val="22335298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554</TotalTime>
  <Words>652</Words>
  <Application>Microsoft Office PowerPoint</Application>
  <PresentationFormat>On-screen Show (4:3)</PresentationFormat>
  <Paragraphs>30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Exception Handling in Python</vt:lpstr>
      <vt:lpstr>Background</vt:lpstr>
      <vt:lpstr>Handling an Exception</vt:lpstr>
      <vt:lpstr>PowerPoint Presentation</vt:lpstr>
      <vt:lpstr>PowerPoint Presentation</vt:lpstr>
      <vt:lpstr>Defining &amp; Raising Exceptions</vt:lpstr>
      <vt:lpstr>PowerPoint Presentation</vt:lpstr>
      <vt:lpstr>Finally</vt:lpstr>
      <vt:lpstr>Assertions in Python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Ashwin Bhagat</dc:creator>
  <cp:lastModifiedBy>Dr Ashwin Bhagat</cp:lastModifiedBy>
  <cp:revision>27</cp:revision>
  <dcterms:created xsi:type="dcterms:W3CDTF">2025-04-01T09:00:09Z</dcterms:created>
  <dcterms:modified xsi:type="dcterms:W3CDTF">2025-04-22T10:28:30Z</dcterms:modified>
</cp:coreProperties>
</file>